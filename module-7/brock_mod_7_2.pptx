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7" r:id="rId3"/>
    <p:sldId id="259" r:id="rId4"/>
    <p:sldId id="261" r:id="rId5"/>
    <p:sldId id="262" r:id="rId6"/>
    <p:sldId id="263" r:id="rId7"/>
    <p:sldId id="264" r:id="rId8"/>
    <p:sldId id="265" r:id="rId9"/>
    <p:sldId id="26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64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36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9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C54C4E-49CB-4CEF-BD52-8425D64EEA1F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D69EE6-6E4C-4C2F-B0A0-E6A9342AF8AB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ALERT</a:t>
          </a:r>
        </a:p>
        <a:p>
          <a:r>
            <a:rPr lang="en-US" sz="1050" dirty="0">
              <a:latin typeface="Univers Condensed Light" panose="020B0306020202040204" pitchFamily="34" charset="0"/>
            </a:rPr>
            <a:t>A production issue triggers an alert</a:t>
          </a:r>
        </a:p>
      </dgm:t>
    </dgm:pt>
    <dgm:pt modelId="{15FA6273-BE5A-4732-9428-1A1F3AE81154}" type="parTrans" cxnId="{82A1A4D7-0990-4406-A725-DF7894F5D194}">
      <dgm:prSet/>
      <dgm:spPr/>
      <dgm:t>
        <a:bodyPr/>
        <a:lstStyle/>
        <a:p>
          <a:endParaRPr lang="en-US"/>
        </a:p>
      </dgm:t>
    </dgm:pt>
    <dgm:pt modelId="{81883759-686F-4113-8B75-40D6E5B0481C}" type="sibTrans" cxnId="{82A1A4D7-0990-4406-A725-DF7894F5D194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52619EA0-2DEA-4484-9DD2-4414AAF8320C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RESPOND</a:t>
          </a:r>
        </a:p>
        <a:p>
          <a:r>
            <a:rPr lang="en-US" sz="1050" dirty="0">
              <a:latin typeface="Univers Condensed Light" panose="020B0306020202040204" pitchFamily="34" charset="0"/>
            </a:rPr>
            <a:t>The on-call engineer investigates</a:t>
          </a:r>
          <a:endParaRPr lang="en-US" sz="1050" dirty="0">
            <a:latin typeface="Oswald SemiBold" panose="00000700000000000000" pitchFamily="2" charset="0"/>
          </a:endParaRPr>
        </a:p>
      </dgm:t>
    </dgm:pt>
    <dgm:pt modelId="{7935521E-2C51-48E9-8A4F-94405DC081D8}" type="parTrans" cxnId="{8DA3EB4F-1AC5-47CE-A76B-AA4271D46B8E}">
      <dgm:prSet/>
      <dgm:spPr/>
      <dgm:t>
        <a:bodyPr/>
        <a:lstStyle/>
        <a:p>
          <a:endParaRPr lang="en-US"/>
        </a:p>
      </dgm:t>
    </dgm:pt>
    <dgm:pt modelId="{BB952258-4FFE-4B47-8D96-1AD76ADE2351}" type="sibTrans" cxnId="{8DA3EB4F-1AC5-47CE-A76B-AA4271D46B8E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C285FB13-E576-4CD4-A54C-B177DFF937D9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MITIGATE</a:t>
          </a:r>
        </a:p>
        <a:p>
          <a:r>
            <a:rPr lang="en-US" sz="1050" dirty="0">
              <a:latin typeface="Univers Condensed Light" panose="020B0306020202040204" pitchFamily="34" charset="0"/>
            </a:rPr>
            <a:t>Impact is reduced or the service is restored</a:t>
          </a:r>
          <a:endParaRPr lang="en-US" sz="1050" dirty="0">
            <a:latin typeface="Oswald SemiBold" panose="00000700000000000000" pitchFamily="2" charset="0"/>
          </a:endParaRPr>
        </a:p>
      </dgm:t>
    </dgm:pt>
    <dgm:pt modelId="{59A4EC2C-D346-43FC-9BBE-39ECE21B237D}" type="parTrans" cxnId="{10039436-8D47-4B9A-89C8-05D6A9AC7FF2}">
      <dgm:prSet/>
      <dgm:spPr/>
      <dgm:t>
        <a:bodyPr/>
        <a:lstStyle/>
        <a:p>
          <a:endParaRPr lang="en-US"/>
        </a:p>
      </dgm:t>
    </dgm:pt>
    <dgm:pt modelId="{D1A7217D-971C-4674-9CEA-1B13B0A3AB5D}" type="sibTrans" cxnId="{10039436-8D47-4B9A-89C8-05D6A9AC7FF2}">
      <dgm:prSet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en-US"/>
        </a:p>
      </dgm:t>
    </dgm:pt>
    <dgm:pt modelId="{23B035EE-B70A-4BF7-96A6-0C94A2E10972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ESCALATE</a:t>
          </a:r>
        </a:p>
        <a:p>
          <a:r>
            <a:rPr lang="en-US" sz="1050" dirty="0">
              <a:latin typeface="Univers Condensed Light" panose="020B0306020202040204" pitchFamily="34" charset="0"/>
            </a:rPr>
            <a:t>Backup help is contacted when needed</a:t>
          </a:r>
          <a:endParaRPr lang="en-US" sz="1050" dirty="0">
            <a:latin typeface="Oswald SemiBold" panose="00000700000000000000" pitchFamily="2" charset="0"/>
          </a:endParaRPr>
        </a:p>
      </dgm:t>
    </dgm:pt>
    <dgm:pt modelId="{851C0A27-272F-4BCB-9408-4257E414DAEF}" type="parTrans" cxnId="{845A7928-52D0-43E7-B7FB-7C700B00ED45}">
      <dgm:prSet/>
      <dgm:spPr/>
      <dgm:t>
        <a:bodyPr/>
        <a:lstStyle/>
        <a:p>
          <a:endParaRPr lang="en-US"/>
        </a:p>
      </dgm:t>
    </dgm:pt>
    <dgm:pt modelId="{BBB3E556-D979-4778-906F-4C250AA5A480}" type="sibTrans" cxnId="{845A7928-52D0-43E7-B7FB-7C700B00ED45}">
      <dgm:prSet/>
      <dgm:spPr/>
      <dgm:t>
        <a:bodyPr/>
        <a:lstStyle/>
        <a:p>
          <a:endParaRPr lang="en-US"/>
        </a:p>
      </dgm:t>
    </dgm:pt>
    <dgm:pt modelId="{3D726576-DA9E-46F5-917F-7F3E57B01FBF}" type="pres">
      <dgm:prSet presAssocID="{9EC54C4E-49CB-4CEF-BD52-8425D64EEA1F}" presName="Name0" presStyleCnt="0">
        <dgm:presLayoutVars>
          <dgm:dir/>
          <dgm:resizeHandles val="exact"/>
        </dgm:presLayoutVars>
      </dgm:prSet>
      <dgm:spPr/>
    </dgm:pt>
    <dgm:pt modelId="{1CC6395A-4447-4DD4-B658-9741C32BBCD0}" type="pres">
      <dgm:prSet presAssocID="{CBD69EE6-6E4C-4C2F-B0A0-E6A9342AF8AB}" presName="node" presStyleLbl="node1" presStyleIdx="0" presStyleCnt="4">
        <dgm:presLayoutVars>
          <dgm:bulletEnabled val="1"/>
        </dgm:presLayoutVars>
      </dgm:prSet>
      <dgm:spPr/>
    </dgm:pt>
    <dgm:pt modelId="{E8C4AE02-8F1A-46D4-A739-553A9DB00C31}" type="pres">
      <dgm:prSet presAssocID="{81883759-686F-4113-8B75-40D6E5B0481C}" presName="sibTrans" presStyleLbl="sibTrans2D1" presStyleIdx="0" presStyleCnt="3"/>
      <dgm:spPr/>
    </dgm:pt>
    <dgm:pt modelId="{4C44D4E1-031B-4851-BA8F-544C23F42DF7}" type="pres">
      <dgm:prSet presAssocID="{81883759-686F-4113-8B75-40D6E5B0481C}" presName="connectorText" presStyleLbl="sibTrans2D1" presStyleIdx="0" presStyleCnt="3"/>
      <dgm:spPr/>
    </dgm:pt>
    <dgm:pt modelId="{D7FAFE5A-5E39-4C07-8ABD-D4CCEB392935}" type="pres">
      <dgm:prSet presAssocID="{52619EA0-2DEA-4484-9DD2-4414AAF8320C}" presName="node" presStyleLbl="node1" presStyleIdx="1" presStyleCnt="4">
        <dgm:presLayoutVars>
          <dgm:bulletEnabled val="1"/>
        </dgm:presLayoutVars>
      </dgm:prSet>
      <dgm:spPr/>
    </dgm:pt>
    <dgm:pt modelId="{274674F9-AC87-430B-A462-931CB1DF55C2}" type="pres">
      <dgm:prSet presAssocID="{BB952258-4FFE-4B47-8D96-1AD76ADE2351}" presName="sibTrans" presStyleLbl="sibTrans2D1" presStyleIdx="1" presStyleCnt="3"/>
      <dgm:spPr/>
    </dgm:pt>
    <dgm:pt modelId="{1D6F9C86-D138-4687-B1A0-63BC705D1E22}" type="pres">
      <dgm:prSet presAssocID="{BB952258-4FFE-4B47-8D96-1AD76ADE2351}" presName="connectorText" presStyleLbl="sibTrans2D1" presStyleIdx="1" presStyleCnt="3"/>
      <dgm:spPr/>
    </dgm:pt>
    <dgm:pt modelId="{68C36573-BAD0-4BEA-9CE5-49C6A4CF6A4C}" type="pres">
      <dgm:prSet presAssocID="{C285FB13-E576-4CD4-A54C-B177DFF937D9}" presName="node" presStyleLbl="node1" presStyleIdx="2" presStyleCnt="4">
        <dgm:presLayoutVars>
          <dgm:bulletEnabled val="1"/>
        </dgm:presLayoutVars>
      </dgm:prSet>
      <dgm:spPr/>
    </dgm:pt>
    <dgm:pt modelId="{718D97A6-6823-48ED-ABC6-C092AFE29022}" type="pres">
      <dgm:prSet presAssocID="{D1A7217D-971C-4674-9CEA-1B13B0A3AB5D}" presName="sibTrans" presStyleLbl="sibTrans2D1" presStyleIdx="2" presStyleCnt="3"/>
      <dgm:spPr/>
    </dgm:pt>
    <dgm:pt modelId="{3B3DAC78-2311-40E5-B840-057461588E43}" type="pres">
      <dgm:prSet presAssocID="{D1A7217D-971C-4674-9CEA-1B13B0A3AB5D}" presName="connectorText" presStyleLbl="sibTrans2D1" presStyleIdx="2" presStyleCnt="3"/>
      <dgm:spPr/>
    </dgm:pt>
    <dgm:pt modelId="{17FC8B61-C75B-47F9-93EE-3F0E938258CA}" type="pres">
      <dgm:prSet presAssocID="{23B035EE-B70A-4BF7-96A6-0C94A2E10972}" presName="node" presStyleLbl="node1" presStyleIdx="3" presStyleCnt="4">
        <dgm:presLayoutVars>
          <dgm:bulletEnabled val="1"/>
        </dgm:presLayoutVars>
      </dgm:prSet>
      <dgm:spPr/>
    </dgm:pt>
  </dgm:ptLst>
  <dgm:cxnLst>
    <dgm:cxn modelId="{DB20D80F-3E64-4E37-842F-510B3DF76596}" type="presOf" srcId="{81883759-686F-4113-8B75-40D6E5B0481C}" destId="{E8C4AE02-8F1A-46D4-A739-553A9DB00C31}" srcOrd="0" destOrd="0" presId="urn:microsoft.com/office/officeart/2005/8/layout/process1"/>
    <dgm:cxn modelId="{845A7928-52D0-43E7-B7FB-7C700B00ED45}" srcId="{9EC54C4E-49CB-4CEF-BD52-8425D64EEA1F}" destId="{23B035EE-B70A-4BF7-96A6-0C94A2E10972}" srcOrd="3" destOrd="0" parTransId="{851C0A27-272F-4BCB-9408-4257E414DAEF}" sibTransId="{BBB3E556-D979-4778-906F-4C250AA5A480}"/>
    <dgm:cxn modelId="{3559552F-22B8-46E7-9792-4A355C81913E}" type="presOf" srcId="{C285FB13-E576-4CD4-A54C-B177DFF937D9}" destId="{68C36573-BAD0-4BEA-9CE5-49C6A4CF6A4C}" srcOrd="0" destOrd="0" presId="urn:microsoft.com/office/officeart/2005/8/layout/process1"/>
    <dgm:cxn modelId="{10039436-8D47-4B9A-89C8-05D6A9AC7FF2}" srcId="{9EC54C4E-49CB-4CEF-BD52-8425D64EEA1F}" destId="{C285FB13-E576-4CD4-A54C-B177DFF937D9}" srcOrd="2" destOrd="0" parTransId="{59A4EC2C-D346-43FC-9BBE-39ECE21B237D}" sibTransId="{D1A7217D-971C-4674-9CEA-1B13B0A3AB5D}"/>
    <dgm:cxn modelId="{61356838-A54F-4A95-A445-5469070F14AD}" type="presOf" srcId="{23B035EE-B70A-4BF7-96A6-0C94A2E10972}" destId="{17FC8B61-C75B-47F9-93EE-3F0E938258CA}" srcOrd="0" destOrd="0" presId="urn:microsoft.com/office/officeart/2005/8/layout/process1"/>
    <dgm:cxn modelId="{3A21493B-FEF7-4DC3-A68B-E90F1D05B4D1}" type="presOf" srcId="{BB952258-4FFE-4B47-8D96-1AD76ADE2351}" destId="{1D6F9C86-D138-4687-B1A0-63BC705D1E22}" srcOrd="1" destOrd="0" presId="urn:microsoft.com/office/officeart/2005/8/layout/process1"/>
    <dgm:cxn modelId="{E9B3F53B-343F-4428-9201-666730D4C348}" type="presOf" srcId="{D1A7217D-971C-4674-9CEA-1B13B0A3AB5D}" destId="{718D97A6-6823-48ED-ABC6-C092AFE29022}" srcOrd="0" destOrd="0" presId="urn:microsoft.com/office/officeart/2005/8/layout/process1"/>
    <dgm:cxn modelId="{FFBA3347-B660-4A00-BCFF-0BF3D54089D2}" type="presOf" srcId="{CBD69EE6-6E4C-4C2F-B0A0-E6A9342AF8AB}" destId="{1CC6395A-4447-4DD4-B658-9741C32BBCD0}" srcOrd="0" destOrd="0" presId="urn:microsoft.com/office/officeart/2005/8/layout/process1"/>
    <dgm:cxn modelId="{24BEE44E-9BB6-4412-8DCD-38FF6FFB3710}" type="presOf" srcId="{81883759-686F-4113-8B75-40D6E5B0481C}" destId="{4C44D4E1-031B-4851-BA8F-544C23F42DF7}" srcOrd="1" destOrd="0" presId="urn:microsoft.com/office/officeart/2005/8/layout/process1"/>
    <dgm:cxn modelId="{8DA3EB4F-1AC5-47CE-A76B-AA4271D46B8E}" srcId="{9EC54C4E-49CB-4CEF-BD52-8425D64EEA1F}" destId="{52619EA0-2DEA-4484-9DD2-4414AAF8320C}" srcOrd="1" destOrd="0" parTransId="{7935521E-2C51-48E9-8A4F-94405DC081D8}" sibTransId="{BB952258-4FFE-4B47-8D96-1AD76ADE2351}"/>
    <dgm:cxn modelId="{A8793791-A373-47E8-86D0-3D263134C07C}" type="presOf" srcId="{BB952258-4FFE-4B47-8D96-1AD76ADE2351}" destId="{274674F9-AC87-430B-A462-931CB1DF55C2}" srcOrd="0" destOrd="0" presId="urn:microsoft.com/office/officeart/2005/8/layout/process1"/>
    <dgm:cxn modelId="{AEE3C49C-8083-401F-AA5B-336FE1AD81D5}" type="presOf" srcId="{52619EA0-2DEA-4484-9DD2-4414AAF8320C}" destId="{D7FAFE5A-5E39-4C07-8ABD-D4CCEB392935}" srcOrd="0" destOrd="0" presId="urn:microsoft.com/office/officeart/2005/8/layout/process1"/>
    <dgm:cxn modelId="{CE2B85A2-7F58-4A54-9AB2-6D1877D5F858}" type="presOf" srcId="{9EC54C4E-49CB-4CEF-BD52-8425D64EEA1F}" destId="{3D726576-DA9E-46F5-917F-7F3E57B01FBF}" srcOrd="0" destOrd="0" presId="urn:microsoft.com/office/officeart/2005/8/layout/process1"/>
    <dgm:cxn modelId="{82A1A4D7-0990-4406-A725-DF7894F5D194}" srcId="{9EC54C4E-49CB-4CEF-BD52-8425D64EEA1F}" destId="{CBD69EE6-6E4C-4C2F-B0A0-E6A9342AF8AB}" srcOrd="0" destOrd="0" parTransId="{15FA6273-BE5A-4732-9428-1A1F3AE81154}" sibTransId="{81883759-686F-4113-8B75-40D6E5B0481C}"/>
    <dgm:cxn modelId="{035E09F8-506C-4BFA-8758-1C8688E144C3}" type="presOf" srcId="{D1A7217D-971C-4674-9CEA-1B13B0A3AB5D}" destId="{3B3DAC78-2311-40E5-B840-057461588E43}" srcOrd="1" destOrd="0" presId="urn:microsoft.com/office/officeart/2005/8/layout/process1"/>
    <dgm:cxn modelId="{5B9B78B2-B62F-44F1-B294-45F4BEC0BC4F}" type="presParOf" srcId="{3D726576-DA9E-46F5-917F-7F3E57B01FBF}" destId="{1CC6395A-4447-4DD4-B658-9741C32BBCD0}" srcOrd="0" destOrd="0" presId="urn:microsoft.com/office/officeart/2005/8/layout/process1"/>
    <dgm:cxn modelId="{D9ED77AA-462E-4384-B113-29C1B4037197}" type="presParOf" srcId="{3D726576-DA9E-46F5-917F-7F3E57B01FBF}" destId="{E8C4AE02-8F1A-46D4-A739-553A9DB00C31}" srcOrd="1" destOrd="0" presId="urn:microsoft.com/office/officeart/2005/8/layout/process1"/>
    <dgm:cxn modelId="{90AF87BE-323A-4DAA-86B1-4F06C9D2143F}" type="presParOf" srcId="{E8C4AE02-8F1A-46D4-A739-553A9DB00C31}" destId="{4C44D4E1-031B-4851-BA8F-544C23F42DF7}" srcOrd="0" destOrd="0" presId="urn:microsoft.com/office/officeart/2005/8/layout/process1"/>
    <dgm:cxn modelId="{8C0A1F82-FF37-45C6-AFC3-4B08A56E5DDF}" type="presParOf" srcId="{3D726576-DA9E-46F5-917F-7F3E57B01FBF}" destId="{D7FAFE5A-5E39-4C07-8ABD-D4CCEB392935}" srcOrd="2" destOrd="0" presId="urn:microsoft.com/office/officeart/2005/8/layout/process1"/>
    <dgm:cxn modelId="{9E1278E3-9889-4B7A-82D4-9EA64F490C07}" type="presParOf" srcId="{3D726576-DA9E-46F5-917F-7F3E57B01FBF}" destId="{274674F9-AC87-430B-A462-931CB1DF55C2}" srcOrd="3" destOrd="0" presId="urn:microsoft.com/office/officeart/2005/8/layout/process1"/>
    <dgm:cxn modelId="{ACDF93A4-383B-4326-BE0C-B5F3C5621648}" type="presParOf" srcId="{274674F9-AC87-430B-A462-931CB1DF55C2}" destId="{1D6F9C86-D138-4687-B1A0-63BC705D1E22}" srcOrd="0" destOrd="0" presId="urn:microsoft.com/office/officeart/2005/8/layout/process1"/>
    <dgm:cxn modelId="{E95E28D8-3179-458F-8BBF-807C1B5AFCE5}" type="presParOf" srcId="{3D726576-DA9E-46F5-917F-7F3E57B01FBF}" destId="{68C36573-BAD0-4BEA-9CE5-49C6A4CF6A4C}" srcOrd="4" destOrd="0" presId="urn:microsoft.com/office/officeart/2005/8/layout/process1"/>
    <dgm:cxn modelId="{D794DA17-3D40-4E42-97DE-46B261CAC904}" type="presParOf" srcId="{3D726576-DA9E-46F5-917F-7F3E57B01FBF}" destId="{718D97A6-6823-48ED-ABC6-C092AFE29022}" srcOrd="5" destOrd="0" presId="urn:microsoft.com/office/officeart/2005/8/layout/process1"/>
    <dgm:cxn modelId="{C797DC1E-D213-4A2F-91F0-53BB01536310}" type="presParOf" srcId="{718D97A6-6823-48ED-ABC6-C092AFE29022}" destId="{3B3DAC78-2311-40E5-B840-057461588E43}" srcOrd="0" destOrd="0" presId="urn:microsoft.com/office/officeart/2005/8/layout/process1"/>
    <dgm:cxn modelId="{B1394474-A4FC-4F73-9E20-7F81066386A8}" type="presParOf" srcId="{3D726576-DA9E-46F5-917F-7F3E57B01FBF}" destId="{17FC8B61-C75B-47F9-93EE-3F0E938258CA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06FF72-41AE-4480-A80C-E1CACF31F0FF}" type="doc">
      <dgm:prSet loTypeId="urn:microsoft.com/office/officeart/2018/2/layout/IconLabelList" loCatId="icon" qsTypeId="urn:microsoft.com/office/officeart/2005/8/quickstyle/simple1#9" qsCatId="simple" csTypeId="urn:microsoft.com/office/officeart/2005/8/colors/accent1_2#9" csCatId="accent1" phldr="1"/>
      <dgm:spPr/>
      <dgm:t>
        <a:bodyPr/>
        <a:lstStyle/>
        <a:p>
          <a:endParaRPr lang="en-US"/>
        </a:p>
      </dgm:t>
    </dgm:pt>
    <dgm:pt modelId="{2B26BA09-2256-46E0-B9EE-3A095D82AFB6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Oswald SemiBold" panose="00000700000000000000" pitchFamily="2" charset="0"/>
            </a:rPr>
            <a:t>BUILD IT</a:t>
          </a:r>
        </a:p>
        <a:p>
          <a:pPr>
            <a:lnSpc>
              <a:spcPct val="100000"/>
            </a:lnSpc>
          </a:pPr>
          <a:r>
            <a:rPr lang="en-US" sz="1200" dirty="0">
              <a:latin typeface="Univers Condensed Light" panose="020B0306020202040204" pitchFamily="34" charset="0"/>
            </a:rPr>
            <a:t>Developers create and change the service</a:t>
          </a:r>
        </a:p>
      </dgm:t>
    </dgm:pt>
    <dgm:pt modelId="{5F1C281E-235F-4611-BB44-561F3E21E0C8}" type="parTrans" cxnId="{DCCCC8C9-875E-4AEE-8138-93B665F270F1}">
      <dgm:prSet/>
      <dgm:spPr/>
      <dgm:t>
        <a:bodyPr/>
        <a:lstStyle/>
        <a:p>
          <a:endParaRPr lang="en-US"/>
        </a:p>
      </dgm:t>
    </dgm:pt>
    <dgm:pt modelId="{7987D33C-3E40-47EC-8852-FF657BB6724E}" type="sibTrans" cxnId="{DCCCC8C9-875E-4AEE-8138-93B665F270F1}">
      <dgm:prSet/>
      <dgm:spPr/>
      <dgm:t>
        <a:bodyPr/>
        <a:lstStyle/>
        <a:p>
          <a:endParaRPr lang="en-US"/>
        </a:p>
      </dgm:t>
    </dgm:pt>
    <dgm:pt modelId="{26EF24CA-B8CA-4696-A8AA-61CD58EC65D3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000">
              <a:latin typeface="Oswald SemiBold" panose="00000700000000000000" pitchFamily="2" charset="0"/>
            </a:rPr>
            <a:t>RUN IT</a:t>
          </a:r>
        </a:p>
        <a:p>
          <a:pPr>
            <a:lnSpc>
              <a:spcPct val="100000"/>
            </a:lnSpc>
          </a:pPr>
          <a:r>
            <a:rPr lang="en-US" sz="1200">
              <a:latin typeface="Univers Condensed Light" panose="020B0306020202040204" pitchFamily="34" charset="0"/>
            </a:rPr>
            <a:t>Teams see how the service behaves in production</a:t>
          </a:r>
        </a:p>
      </dgm:t>
    </dgm:pt>
    <dgm:pt modelId="{8AF09ECF-1A25-4166-8B5D-7D86BA2F2EF6}" type="parTrans" cxnId="{D4395157-D6CF-47F9-8C68-6A80DF80AB33}">
      <dgm:prSet/>
      <dgm:spPr/>
      <dgm:t>
        <a:bodyPr/>
        <a:lstStyle/>
        <a:p>
          <a:endParaRPr lang="en-US"/>
        </a:p>
      </dgm:t>
    </dgm:pt>
    <dgm:pt modelId="{A301F846-0F83-420F-8209-F79F89BB1621}" type="sibTrans" cxnId="{D4395157-D6CF-47F9-8C68-6A80DF80AB33}">
      <dgm:prSet/>
      <dgm:spPr/>
      <dgm:t>
        <a:bodyPr/>
        <a:lstStyle/>
        <a:p>
          <a:endParaRPr lang="en-US"/>
        </a:p>
      </dgm:t>
    </dgm:pt>
    <dgm:pt modelId="{F4649867-C7D3-4AD2-B179-EB0411860AA0}">
      <dgm:prSet phldrT="[Text]" phldr="0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dgm:style>
      </dgm:prSet>
      <dgm:spPr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</dgm:spPr>
      <dgm:t>
        <a:bodyPr/>
        <a:lstStyle/>
        <a:p>
          <a:pPr>
            <a:lnSpc>
              <a:spcPct val="100000"/>
            </a:lnSpc>
          </a:pPr>
          <a:r>
            <a:rPr lang="en-US" sz="2000" dirty="0">
              <a:latin typeface="Oswald SemiBold" panose="00000700000000000000" pitchFamily="2" charset="0"/>
            </a:rPr>
            <a:t>IMPROVE IT</a:t>
          </a:r>
        </a:p>
        <a:p>
          <a:pPr>
            <a:lnSpc>
              <a:spcPct val="100000"/>
            </a:lnSpc>
          </a:pPr>
          <a:r>
            <a:rPr lang="en-US" sz="1200" dirty="0">
              <a:latin typeface="Univers Condensed Light" panose="020B0306020202040204" pitchFamily="34" charset="0"/>
            </a:rPr>
            <a:t>Incidents reveal what needs better monitoring, automation, or design</a:t>
          </a:r>
        </a:p>
      </dgm:t>
    </dgm:pt>
    <dgm:pt modelId="{38899341-7C70-4698-B7C7-D7FADFF12CE2}" type="parTrans" cxnId="{60AD7014-3154-4507-9B1C-716967FE32C6}">
      <dgm:prSet/>
      <dgm:spPr/>
      <dgm:t>
        <a:bodyPr/>
        <a:lstStyle/>
        <a:p>
          <a:endParaRPr lang="en-US"/>
        </a:p>
      </dgm:t>
    </dgm:pt>
    <dgm:pt modelId="{9B279EBB-8558-4871-987A-60CF6D5F47BD}" type="sibTrans" cxnId="{60AD7014-3154-4507-9B1C-716967FE32C6}">
      <dgm:prSet/>
      <dgm:spPr/>
      <dgm:t>
        <a:bodyPr/>
        <a:lstStyle/>
        <a:p>
          <a:endParaRPr lang="en-US"/>
        </a:p>
      </dgm:t>
    </dgm:pt>
    <dgm:pt modelId="{59F0D4FF-8418-4B25-AC34-068B5FDA68A2}" type="pres">
      <dgm:prSet presAssocID="{E506FF72-41AE-4480-A80C-E1CACF31F0FF}" presName="root" presStyleCnt="0">
        <dgm:presLayoutVars>
          <dgm:dir/>
          <dgm:resizeHandles val="exact"/>
        </dgm:presLayoutVars>
      </dgm:prSet>
      <dgm:spPr/>
    </dgm:pt>
    <dgm:pt modelId="{E5C770BC-F5EE-4A73-9789-1EA8B6559F84}" type="pres">
      <dgm:prSet presAssocID="{2B26BA09-2256-46E0-B9EE-3A095D82AFB6}" presName="compNode" presStyleCnt="0"/>
      <dgm:spPr/>
    </dgm:pt>
    <dgm:pt modelId="{56BEAE60-A8C8-4F64-9777-D8D2CA0EB440}" type="pres">
      <dgm:prSet presAssocID="{2B26BA09-2256-46E0-B9EE-3A095D82AFB6}" presName="iconRect" presStyleLbl="node1" presStyleIdx="0" presStyleCnt="3"/>
      <dgm:spPr>
        <a:blipFill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w blade"/>
        </a:ext>
      </dgm:extLst>
    </dgm:pt>
    <dgm:pt modelId="{95EFE4FD-E888-449A-953C-6309DB15B4DE}" type="pres">
      <dgm:prSet presAssocID="{2B26BA09-2256-46E0-B9EE-3A095D82AFB6}" presName="spaceRect" presStyleCnt="0"/>
      <dgm:spPr/>
    </dgm:pt>
    <dgm:pt modelId="{12444C5C-EF62-47DC-B820-27CEBF3E9412}" type="pres">
      <dgm:prSet presAssocID="{2B26BA09-2256-46E0-B9EE-3A095D82AFB6}" presName="textRect" presStyleLbl="revTx" presStyleIdx="0" presStyleCnt="3">
        <dgm:presLayoutVars>
          <dgm:chMax val="1"/>
          <dgm:chPref val="1"/>
        </dgm:presLayoutVars>
      </dgm:prSet>
      <dgm:spPr/>
    </dgm:pt>
    <dgm:pt modelId="{D729C928-FA1A-491F-928E-64FE8CF23A91}" type="pres">
      <dgm:prSet presAssocID="{7987D33C-3E40-47EC-8852-FF657BB6724E}" presName="sibTrans" presStyleCnt="0"/>
      <dgm:spPr/>
    </dgm:pt>
    <dgm:pt modelId="{360221A8-BF65-4141-B2D7-3F7D63BC3440}" type="pres">
      <dgm:prSet presAssocID="{26EF24CA-B8CA-4696-A8AA-61CD58EC65D3}" presName="compNode" presStyleCnt="0"/>
      <dgm:spPr/>
    </dgm:pt>
    <dgm:pt modelId="{7BA6433C-517A-499C-B022-310B5525F618}" type="pres">
      <dgm:prSet presAssocID="{26EF24CA-B8CA-4696-A8AA-61CD58EC65D3}" presName="iconRect" presStyleLbl="node1" presStyleIdx="1" presStyleCnt="3"/>
      <dgm:spPr>
        <a:blipFill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02BE64CF-7B2A-40D3-8DA0-17782661E4B3}" type="pres">
      <dgm:prSet presAssocID="{26EF24CA-B8CA-4696-A8AA-61CD58EC65D3}" presName="spaceRect" presStyleCnt="0"/>
      <dgm:spPr/>
    </dgm:pt>
    <dgm:pt modelId="{1418647C-8FF6-493A-9FD2-6EAFE4D3C089}" type="pres">
      <dgm:prSet presAssocID="{26EF24CA-B8CA-4696-A8AA-61CD58EC65D3}" presName="textRect" presStyleLbl="revTx" presStyleIdx="1" presStyleCnt="3">
        <dgm:presLayoutVars>
          <dgm:chMax val="1"/>
          <dgm:chPref val="1"/>
        </dgm:presLayoutVars>
      </dgm:prSet>
      <dgm:spPr/>
    </dgm:pt>
    <dgm:pt modelId="{E5BD666D-7ED6-4E6D-A1C5-C3071B03C98C}" type="pres">
      <dgm:prSet presAssocID="{A301F846-0F83-420F-8209-F79F89BB1621}" presName="sibTrans" presStyleCnt="0"/>
      <dgm:spPr/>
    </dgm:pt>
    <dgm:pt modelId="{3C52B636-8AAB-4598-B2DD-170EE0464CE6}" type="pres">
      <dgm:prSet presAssocID="{F4649867-C7D3-4AD2-B179-EB0411860AA0}" presName="compNode" presStyleCnt="0"/>
      <dgm:spPr/>
    </dgm:pt>
    <dgm:pt modelId="{2905C68F-F7C7-4077-BE09-99CAD9BA0EB9}" type="pres">
      <dgm:prSet presAssocID="{F4649867-C7D3-4AD2-B179-EB0411860AA0}" presName="iconRect" presStyleLbl="node1" presStyleIdx="2" presStyleCnt="3"/>
      <dgm:spPr>
        <a:blipFill dpi="0" rotWithShape="1"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E28C8259-CD98-406B-95FD-664A8A8127B5}" type="pres">
      <dgm:prSet presAssocID="{F4649867-C7D3-4AD2-B179-EB0411860AA0}" presName="spaceRect" presStyleCnt="0"/>
      <dgm:spPr/>
    </dgm:pt>
    <dgm:pt modelId="{A65FABE4-9D7F-43FA-AB5D-0728259F0F79}" type="pres">
      <dgm:prSet presAssocID="{F4649867-C7D3-4AD2-B179-EB0411860AA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0AD7014-3154-4507-9B1C-716967FE32C6}" srcId="{E506FF72-41AE-4480-A80C-E1CACF31F0FF}" destId="{F4649867-C7D3-4AD2-B179-EB0411860AA0}" srcOrd="2" destOrd="0" parTransId="{38899341-7C70-4698-B7C7-D7FADFF12CE2}" sibTransId="{9B279EBB-8558-4871-987A-60CF6D5F47BD}"/>
    <dgm:cxn modelId="{9975F618-951E-4DA7-9DFE-3E57B47122E7}" type="presOf" srcId="{26EF24CA-B8CA-4696-A8AA-61CD58EC65D3}" destId="{1418647C-8FF6-493A-9FD2-6EAFE4D3C089}" srcOrd="0" destOrd="0" presId="urn:microsoft.com/office/officeart/2018/2/layout/IconLabelList"/>
    <dgm:cxn modelId="{C5EEF553-FBD6-4CC0-A8DE-58D7B12B2F68}" type="presOf" srcId="{2B26BA09-2256-46E0-B9EE-3A095D82AFB6}" destId="{12444C5C-EF62-47DC-B820-27CEBF3E9412}" srcOrd="0" destOrd="0" presId="urn:microsoft.com/office/officeart/2018/2/layout/IconLabelList"/>
    <dgm:cxn modelId="{D4395157-D6CF-47F9-8C68-6A80DF80AB33}" srcId="{E506FF72-41AE-4480-A80C-E1CACF31F0FF}" destId="{26EF24CA-B8CA-4696-A8AA-61CD58EC65D3}" srcOrd="1" destOrd="0" parTransId="{8AF09ECF-1A25-4166-8B5D-7D86BA2F2EF6}" sibTransId="{A301F846-0F83-420F-8209-F79F89BB1621}"/>
    <dgm:cxn modelId="{B9D909C4-DD59-403B-B302-73429000B533}" type="presOf" srcId="{E506FF72-41AE-4480-A80C-E1CACF31F0FF}" destId="{59F0D4FF-8418-4B25-AC34-068B5FDA68A2}" srcOrd="0" destOrd="0" presId="urn:microsoft.com/office/officeart/2018/2/layout/IconLabelList"/>
    <dgm:cxn modelId="{DCCCC8C9-875E-4AEE-8138-93B665F270F1}" srcId="{E506FF72-41AE-4480-A80C-E1CACF31F0FF}" destId="{2B26BA09-2256-46E0-B9EE-3A095D82AFB6}" srcOrd="0" destOrd="0" parTransId="{5F1C281E-235F-4611-BB44-561F3E21E0C8}" sibTransId="{7987D33C-3E40-47EC-8852-FF657BB6724E}"/>
    <dgm:cxn modelId="{4174A2D9-25EA-48F4-8246-6BA3E6E2001C}" type="presOf" srcId="{F4649867-C7D3-4AD2-B179-EB0411860AA0}" destId="{A65FABE4-9D7F-43FA-AB5D-0728259F0F79}" srcOrd="0" destOrd="0" presId="urn:microsoft.com/office/officeart/2018/2/layout/IconLabelList"/>
    <dgm:cxn modelId="{036F0509-29C1-4CF5-A6C4-6C2F17D3C9AF}" type="presParOf" srcId="{59F0D4FF-8418-4B25-AC34-068B5FDA68A2}" destId="{E5C770BC-F5EE-4A73-9789-1EA8B6559F84}" srcOrd="0" destOrd="0" presId="urn:microsoft.com/office/officeart/2018/2/layout/IconLabelList"/>
    <dgm:cxn modelId="{264F0B04-D860-48B2-8F7E-41DEF0F0BDB7}" type="presParOf" srcId="{E5C770BC-F5EE-4A73-9789-1EA8B6559F84}" destId="{56BEAE60-A8C8-4F64-9777-D8D2CA0EB440}" srcOrd="0" destOrd="0" presId="urn:microsoft.com/office/officeart/2018/2/layout/IconLabelList"/>
    <dgm:cxn modelId="{82889C40-E452-4AF9-949A-86842ECCCA41}" type="presParOf" srcId="{E5C770BC-F5EE-4A73-9789-1EA8B6559F84}" destId="{95EFE4FD-E888-449A-953C-6309DB15B4DE}" srcOrd="1" destOrd="0" presId="urn:microsoft.com/office/officeart/2018/2/layout/IconLabelList"/>
    <dgm:cxn modelId="{DA1FB0F8-179C-456F-8454-929E62BEF095}" type="presParOf" srcId="{E5C770BC-F5EE-4A73-9789-1EA8B6559F84}" destId="{12444C5C-EF62-47DC-B820-27CEBF3E9412}" srcOrd="2" destOrd="0" presId="urn:microsoft.com/office/officeart/2018/2/layout/IconLabelList"/>
    <dgm:cxn modelId="{0007AB15-9835-4B3B-B7A6-1DD5A3611F5F}" type="presParOf" srcId="{59F0D4FF-8418-4B25-AC34-068B5FDA68A2}" destId="{D729C928-FA1A-491F-928E-64FE8CF23A91}" srcOrd="1" destOrd="0" presId="urn:microsoft.com/office/officeart/2018/2/layout/IconLabelList"/>
    <dgm:cxn modelId="{8816C753-4624-411D-8B8D-335BF962E2B7}" type="presParOf" srcId="{59F0D4FF-8418-4B25-AC34-068B5FDA68A2}" destId="{360221A8-BF65-4141-B2D7-3F7D63BC3440}" srcOrd="2" destOrd="0" presId="urn:microsoft.com/office/officeart/2018/2/layout/IconLabelList"/>
    <dgm:cxn modelId="{ED61E7FC-86C9-4881-B41E-5054DAD9BA3C}" type="presParOf" srcId="{360221A8-BF65-4141-B2D7-3F7D63BC3440}" destId="{7BA6433C-517A-499C-B022-310B5525F618}" srcOrd="0" destOrd="0" presId="urn:microsoft.com/office/officeart/2018/2/layout/IconLabelList"/>
    <dgm:cxn modelId="{3960614B-2CFC-4CD5-A8B6-85FE046E2F77}" type="presParOf" srcId="{360221A8-BF65-4141-B2D7-3F7D63BC3440}" destId="{02BE64CF-7B2A-40D3-8DA0-17782661E4B3}" srcOrd="1" destOrd="0" presId="urn:microsoft.com/office/officeart/2018/2/layout/IconLabelList"/>
    <dgm:cxn modelId="{8C04EA79-BF37-49CA-B949-2234E38AC467}" type="presParOf" srcId="{360221A8-BF65-4141-B2D7-3F7D63BC3440}" destId="{1418647C-8FF6-493A-9FD2-6EAFE4D3C089}" srcOrd="2" destOrd="0" presId="urn:microsoft.com/office/officeart/2018/2/layout/IconLabelList"/>
    <dgm:cxn modelId="{178AC3C2-3A37-475B-8835-D1DE3C71F21B}" type="presParOf" srcId="{59F0D4FF-8418-4B25-AC34-068B5FDA68A2}" destId="{E5BD666D-7ED6-4E6D-A1C5-C3071B03C98C}" srcOrd="3" destOrd="0" presId="urn:microsoft.com/office/officeart/2018/2/layout/IconLabelList"/>
    <dgm:cxn modelId="{0B872B0F-CBAF-48E6-B934-62484D714A09}" type="presParOf" srcId="{59F0D4FF-8418-4B25-AC34-068B5FDA68A2}" destId="{3C52B636-8AAB-4598-B2DD-170EE0464CE6}" srcOrd="4" destOrd="0" presId="urn:microsoft.com/office/officeart/2018/2/layout/IconLabelList"/>
    <dgm:cxn modelId="{25DA760A-9603-4B29-A14D-C930240E4248}" type="presParOf" srcId="{3C52B636-8AAB-4598-B2DD-170EE0464CE6}" destId="{2905C68F-F7C7-4077-BE09-99CAD9BA0EB9}" srcOrd="0" destOrd="0" presId="urn:microsoft.com/office/officeart/2018/2/layout/IconLabelList"/>
    <dgm:cxn modelId="{8808ACEA-850A-4D9A-9430-98C33FD92B31}" type="presParOf" srcId="{3C52B636-8AAB-4598-B2DD-170EE0464CE6}" destId="{E28C8259-CD98-406B-95FD-664A8A8127B5}" srcOrd="1" destOrd="0" presId="urn:microsoft.com/office/officeart/2018/2/layout/IconLabelList"/>
    <dgm:cxn modelId="{07650B67-2B4B-41B7-B390-03409F438E7F}" type="presParOf" srcId="{3C52B636-8AAB-4598-B2DD-170EE0464CE6}" destId="{A65FABE4-9D7F-43FA-AB5D-0728259F0F7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4036A59-7EB4-4608-9A75-B53798B156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3C5F7B-EA1F-4E18-AD75-E662B5363081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pPr algn="ctr"/>
          <a:r>
            <a:rPr lang="en-US" sz="1800" dirty="0">
              <a:latin typeface="Oswald SemiBold" panose="00000700000000000000" pitchFamily="2" charset="0"/>
            </a:rPr>
            <a:t>PAGE NOW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Service outage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Major customer impact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Immediate human action needed</a:t>
          </a:r>
        </a:p>
      </dgm:t>
    </dgm:pt>
    <dgm:pt modelId="{CE24BD35-F4F3-4AAB-AF6D-366CACB048A5}" type="parTrans" cxnId="{58721997-7FDB-42CA-84AB-EE6E46D6526D}">
      <dgm:prSet/>
      <dgm:spPr/>
      <dgm:t>
        <a:bodyPr/>
        <a:lstStyle/>
        <a:p>
          <a:endParaRPr lang="en-US"/>
        </a:p>
      </dgm:t>
    </dgm:pt>
    <dgm:pt modelId="{5C8BC9FE-82B3-49C4-8248-0FE383FAFE78}" type="sibTrans" cxnId="{58721997-7FDB-42CA-84AB-EE6E46D6526D}">
      <dgm:prSet/>
      <dgm:spPr/>
      <dgm:t>
        <a:bodyPr/>
        <a:lstStyle/>
        <a:p>
          <a:endParaRPr lang="en-US"/>
        </a:p>
      </dgm:t>
    </dgm:pt>
    <dgm:pt modelId="{C4402099-F985-466B-9C87-0CC7526592D8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REVIEW LATER</a:t>
          </a:r>
        </a:p>
        <a:p>
          <a:r>
            <a:rPr lang="en-US" sz="1200" dirty="0">
              <a:latin typeface="Univers Condensed Light" panose="020B0306020202040204" pitchFamily="34" charset="0"/>
            </a:rPr>
            <a:t>Low-priority warning</a:t>
          </a:r>
        </a:p>
        <a:p>
          <a:r>
            <a:rPr lang="en-US" sz="1200" dirty="0">
              <a:latin typeface="Univers Condensed Light" panose="020B0306020202040204" pitchFamily="34" charset="0"/>
            </a:rPr>
            <a:t>Trend to investigate</a:t>
          </a:r>
        </a:p>
        <a:p>
          <a:r>
            <a:rPr lang="en-US" sz="1200" dirty="0">
              <a:latin typeface="Univers Condensed Light" panose="020B0306020202040204" pitchFamily="34" charset="0"/>
            </a:rPr>
            <a:t>Issue that can wait for business hours</a:t>
          </a:r>
        </a:p>
      </dgm:t>
    </dgm:pt>
    <dgm:pt modelId="{7787B1C0-526B-46A4-A587-644DBE614BB3}" type="parTrans" cxnId="{4AFB82EF-76ED-4B36-BF82-DAC735DD668B}">
      <dgm:prSet/>
      <dgm:spPr/>
      <dgm:t>
        <a:bodyPr/>
        <a:lstStyle/>
        <a:p>
          <a:endParaRPr lang="en-US"/>
        </a:p>
      </dgm:t>
    </dgm:pt>
    <dgm:pt modelId="{80D8548E-B4C0-442B-BCE3-8B5C3E6DDEE1}" type="sibTrans" cxnId="{4AFB82EF-76ED-4B36-BF82-DAC735DD668B}">
      <dgm:prSet/>
      <dgm:spPr/>
      <dgm:t>
        <a:bodyPr/>
        <a:lstStyle/>
        <a:p>
          <a:endParaRPr lang="en-US"/>
        </a:p>
      </dgm:t>
    </dgm:pt>
    <dgm:pt modelId="{36AD13F7-5C64-4262-80CB-FFC9A3A1E17A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FIX THE ALERT</a:t>
          </a:r>
        </a:p>
        <a:p>
          <a:r>
            <a:rPr lang="en-US" sz="1200" dirty="0">
              <a:latin typeface="Univers Condensed Light" panose="020B0306020202040204" pitchFamily="34" charset="0"/>
            </a:rPr>
            <a:t>False positive</a:t>
          </a:r>
        </a:p>
        <a:p>
          <a:r>
            <a:rPr lang="en-US" sz="1200" dirty="0">
              <a:latin typeface="Univers Condensed Light" panose="020B0306020202040204" pitchFamily="34" charset="0"/>
            </a:rPr>
            <a:t>Duplicate notification</a:t>
          </a:r>
        </a:p>
        <a:p>
          <a:r>
            <a:rPr lang="en-US" sz="1200" dirty="0">
              <a:latin typeface="Univers Condensed Light" panose="020B0306020202040204" pitchFamily="34" charset="0"/>
            </a:rPr>
            <a:t>Repeated noisy alert</a:t>
          </a:r>
        </a:p>
      </dgm:t>
    </dgm:pt>
    <dgm:pt modelId="{1ADAEF6D-AD18-4194-AD58-8E918B56C4F9}" type="parTrans" cxnId="{20390578-1BC2-49EE-B976-20AA70E75A3E}">
      <dgm:prSet/>
      <dgm:spPr/>
      <dgm:t>
        <a:bodyPr/>
        <a:lstStyle/>
        <a:p>
          <a:endParaRPr lang="en-US"/>
        </a:p>
      </dgm:t>
    </dgm:pt>
    <dgm:pt modelId="{18819034-C9DD-4647-99D4-57B4B46BA1B1}" type="sibTrans" cxnId="{20390578-1BC2-49EE-B976-20AA70E75A3E}">
      <dgm:prSet/>
      <dgm:spPr/>
      <dgm:t>
        <a:bodyPr/>
        <a:lstStyle/>
        <a:p>
          <a:endParaRPr lang="en-US"/>
        </a:p>
      </dgm:t>
    </dgm:pt>
    <dgm:pt modelId="{61CB6BD2-1465-40F8-B022-969C2CB9DE15}" type="pres">
      <dgm:prSet presAssocID="{54036A59-7EB4-4608-9A75-B53798B15611}" presName="diagram" presStyleCnt="0">
        <dgm:presLayoutVars>
          <dgm:dir/>
          <dgm:resizeHandles val="exact"/>
        </dgm:presLayoutVars>
      </dgm:prSet>
      <dgm:spPr/>
    </dgm:pt>
    <dgm:pt modelId="{D54A118F-B51A-474F-A8D6-6C65B2B606A7}" type="pres">
      <dgm:prSet presAssocID="{A03C5F7B-EA1F-4E18-AD75-E662B5363081}" presName="node" presStyleLbl="node1" presStyleIdx="0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E9234C7C-D730-4949-AE8A-3E599288BBD9}" type="pres">
      <dgm:prSet presAssocID="{5C8BC9FE-82B3-49C4-8248-0FE383FAFE78}" presName="sibTrans" presStyleCnt="0"/>
      <dgm:spPr/>
    </dgm:pt>
    <dgm:pt modelId="{76E88B61-1FA6-4C6D-8A1D-D176812284C7}" type="pres">
      <dgm:prSet presAssocID="{C4402099-F985-466B-9C87-0CC7526592D8}" presName="node" presStyleLbl="node1" presStyleIdx="1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8A6CE196-21D3-44F7-A51B-315165ED7518}" type="pres">
      <dgm:prSet presAssocID="{80D8548E-B4C0-442B-BCE3-8B5C3E6DDEE1}" presName="sibTrans" presStyleCnt="0"/>
      <dgm:spPr/>
    </dgm:pt>
    <dgm:pt modelId="{99BBC1F5-C500-4D08-A9F8-5DC41052032A}" type="pres">
      <dgm:prSet presAssocID="{36AD13F7-5C64-4262-80CB-FFC9A3A1E17A}" presName="node" presStyleLbl="node1" presStyleIdx="2" presStyleCnt="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D9E8D713-8DA7-4A84-B003-59749B282882}" type="presOf" srcId="{C4402099-F985-466B-9C87-0CC7526592D8}" destId="{76E88B61-1FA6-4C6D-8A1D-D176812284C7}" srcOrd="0" destOrd="0" presId="urn:microsoft.com/office/officeart/2005/8/layout/default"/>
    <dgm:cxn modelId="{F8E01016-F84C-4534-959C-59A4BE1558F0}" type="presOf" srcId="{36AD13F7-5C64-4262-80CB-FFC9A3A1E17A}" destId="{99BBC1F5-C500-4D08-A9F8-5DC41052032A}" srcOrd="0" destOrd="0" presId="urn:microsoft.com/office/officeart/2005/8/layout/default"/>
    <dgm:cxn modelId="{322ED520-A52E-47DB-BF93-8D65071222A0}" type="presOf" srcId="{A03C5F7B-EA1F-4E18-AD75-E662B5363081}" destId="{D54A118F-B51A-474F-A8D6-6C65B2B606A7}" srcOrd="0" destOrd="0" presId="urn:microsoft.com/office/officeart/2005/8/layout/default"/>
    <dgm:cxn modelId="{F719B34B-00F0-42A1-B652-11E6B7F5F226}" type="presOf" srcId="{54036A59-7EB4-4608-9A75-B53798B15611}" destId="{61CB6BD2-1465-40F8-B022-969C2CB9DE15}" srcOrd="0" destOrd="0" presId="urn:microsoft.com/office/officeart/2005/8/layout/default"/>
    <dgm:cxn modelId="{20390578-1BC2-49EE-B976-20AA70E75A3E}" srcId="{54036A59-7EB4-4608-9A75-B53798B15611}" destId="{36AD13F7-5C64-4262-80CB-FFC9A3A1E17A}" srcOrd="2" destOrd="0" parTransId="{1ADAEF6D-AD18-4194-AD58-8E918B56C4F9}" sibTransId="{18819034-C9DD-4647-99D4-57B4B46BA1B1}"/>
    <dgm:cxn modelId="{58721997-7FDB-42CA-84AB-EE6E46D6526D}" srcId="{54036A59-7EB4-4608-9A75-B53798B15611}" destId="{A03C5F7B-EA1F-4E18-AD75-E662B5363081}" srcOrd="0" destOrd="0" parTransId="{CE24BD35-F4F3-4AAB-AF6D-366CACB048A5}" sibTransId="{5C8BC9FE-82B3-49C4-8248-0FE383FAFE78}"/>
    <dgm:cxn modelId="{4AFB82EF-76ED-4B36-BF82-DAC735DD668B}" srcId="{54036A59-7EB4-4608-9A75-B53798B15611}" destId="{C4402099-F985-466B-9C87-0CC7526592D8}" srcOrd="1" destOrd="0" parTransId="{7787B1C0-526B-46A4-A587-644DBE614BB3}" sibTransId="{80D8548E-B4C0-442B-BCE3-8B5C3E6DDEE1}"/>
    <dgm:cxn modelId="{759B9A66-AE8F-4CD6-8ED8-26477629B21B}" type="presParOf" srcId="{61CB6BD2-1465-40F8-B022-969C2CB9DE15}" destId="{D54A118F-B51A-474F-A8D6-6C65B2B606A7}" srcOrd="0" destOrd="0" presId="urn:microsoft.com/office/officeart/2005/8/layout/default"/>
    <dgm:cxn modelId="{8516914F-5ED0-4D76-8DCB-51A069FC557E}" type="presParOf" srcId="{61CB6BD2-1465-40F8-B022-969C2CB9DE15}" destId="{E9234C7C-D730-4949-AE8A-3E599288BBD9}" srcOrd="1" destOrd="0" presId="urn:microsoft.com/office/officeart/2005/8/layout/default"/>
    <dgm:cxn modelId="{8088A746-2387-4181-B8EB-4BE0D8726D07}" type="presParOf" srcId="{61CB6BD2-1465-40F8-B022-969C2CB9DE15}" destId="{76E88B61-1FA6-4C6D-8A1D-D176812284C7}" srcOrd="2" destOrd="0" presId="urn:microsoft.com/office/officeart/2005/8/layout/default"/>
    <dgm:cxn modelId="{9E068744-8C74-4022-BBAA-6E82CDED6CB6}" type="presParOf" srcId="{61CB6BD2-1465-40F8-B022-969C2CB9DE15}" destId="{8A6CE196-21D3-44F7-A51B-315165ED7518}" srcOrd="3" destOrd="0" presId="urn:microsoft.com/office/officeart/2005/8/layout/default"/>
    <dgm:cxn modelId="{C5B79123-E565-4F51-991E-A827DEB0DCEB}" type="presParOf" srcId="{61CB6BD2-1465-40F8-B022-969C2CB9DE15}" destId="{99BBC1F5-C500-4D08-A9F8-5DC41052032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4036A59-7EB4-4608-9A75-B53798B1561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03C5F7B-EA1F-4E18-AD75-E662B5363081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pPr algn="ctr"/>
          <a:r>
            <a:rPr lang="en-US" sz="1800" dirty="0">
              <a:latin typeface="Oswald SemiBold" panose="00000700000000000000" pitchFamily="2" charset="0"/>
            </a:rPr>
            <a:t>DURING ON-CALL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Clear expectations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Backup support</a:t>
          </a:r>
        </a:p>
        <a:p>
          <a:pPr algn="ctr"/>
          <a:r>
            <a:rPr lang="en-US" sz="1200" dirty="0">
              <a:latin typeface="Univers Condensed Light" panose="020B0306020202040204" pitchFamily="34" charset="0"/>
            </a:rPr>
            <a:t>Useful tools and runbooks</a:t>
          </a:r>
        </a:p>
      </dgm:t>
    </dgm:pt>
    <dgm:pt modelId="{CE24BD35-F4F3-4AAB-AF6D-366CACB048A5}" type="parTrans" cxnId="{58721997-7FDB-42CA-84AB-EE6E46D6526D}">
      <dgm:prSet/>
      <dgm:spPr/>
      <dgm:t>
        <a:bodyPr/>
        <a:lstStyle/>
        <a:p>
          <a:endParaRPr lang="en-US"/>
        </a:p>
      </dgm:t>
    </dgm:pt>
    <dgm:pt modelId="{5C8BC9FE-82B3-49C4-8248-0FE383FAFE78}" type="sibTrans" cxnId="{58721997-7FDB-42CA-84AB-EE6E46D6526D}">
      <dgm:prSet/>
      <dgm:spPr/>
      <dgm:t>
        <a:bodyPr/>
        <a:lstStyle/>
        <a:p>
          <a:endParaRPr lang="en-US"/>
        </a:p>
      </dgm:t>
    </dgm:pt>
    <dgm:pt modelId="{C4402099-F985-466B-9C87-0CC7526592D8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AFTER A ROUGH NIGHT</a:t>
          </a:r>
        </a:p>
        <a:p>
          <a:r>
            <a:rPr lang="en-US" sz="1200" dirty="0">
              <a:latin typeface="Univers Condensed Light" panose="020B0306020202040204" pitchFamily="34" charset="0"/>
            </a:rPr>
            <a:t>Recovery time</a:t>
          </a:r>
        </a:p>
        <a:p>
          <a:r>
            <a:rPr lang="en-US" sz="1200" dirty="0">
              <a:latin typeface="Univers Condensed Light" panose="020B0306020202040204" pitchFamily="34" charset="0"/>
            </a:rPr>
            <a:t>Adjusted workload</a:t>
          </a:r>
        </a:p>
        <a:p>
          <a:r>
            <a:rPr lang="en-US" sz="1200" dirty="0">
              <a:latin typeface="Univers Condensed Light" panose="020B0306020202040204" pitchFamily="34" charset="0"/>
            </a:rPr>
            <a:t>Team support</a:t>
          </a:r>
        </a:p>
      </dgm:t>
    </dgm:pt>
    <dgm:pt modelId="{7787B1C0-526B-46A4-A587-644DBE614BB3}" type="parTrans" cxnId="{4AFB82EF-76ED-4B36-BF82-DAC735DD668B}">
      <dgm:prSet/>
      <dgm:spPr/>
      <dgm:t>
        <a:bodyPr/>
        <a:lstStyle/>
        <a:p>
          <a:endParaRPr lang="en-US"/>
        </a:p>
      </dgm:t>
    </dgm:pt>
    <dgm:pt modelId="{80D8548E-B4C0-442B-BCE3-8B5C3E6DDEE1}" type="sibTrans" cxnId="{4AFB82EF-76ED-4B36-BF82-DAC735DD668B}">
      <dgm:prSet/>
      <dgm:spPr/>
      <dgm:t>
        <a:bodyPr/>
        <a:lstStyle/>
        <a:p>
          <a:endParaRPr lang="en-US"/>
        </a:p>
      </dgm:t>
    </dgm:pt>
    <dgm:pt modelId="{36AD13F7-5C64-4262-80CB-FFC9A3A1E17A}">
      <dgm:prSet phldrT="[Text]" phldr="0" custT="1">
        <dgm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dgm:style>
      </dgm:prSet>
      <dgm:spPr>
        <a:ln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</dgm:spPr>
      <dgm:t>
        <a:bodyPr/>
        <a:lstStyle/>
        <a:p>
          <a:r>
            <a:rPr lang="en-US" sz="1800" dirty="0">
              <a:latin typeface="Oswald SemiBold" panose="00000700000000000000" pitchFamily="2" charset="0"/>
            </a:rPr>
            <a:t>AFTER THE INCIDENT</a:t>
          </a:r>
        </a:p>
        <a:p>
          <a:r>
            <a:rPr lang="en-US" sz="1200" dirty="0">
              <a:latin typeface="Univers Condensed Light" panose="020B0306020202040204" pitchFamily="34" charset="0"/>
            </a:rPr>
            <a:t>Blameless review</a:t>
          </a:r>
        </a:p>
        <a:p>
          <a:r>
            <a:rPr lang="en-US" sz="1200" dirty="0">
              <a:latin typeface="Univers Condensed Light" panose="020B0306020202040204" pitchFamily="34" charset="0"/>
            </a:rPr>
            <a:t>Fix recurring problems</a:t>
          </a:r>
        </a:p>
        <a:p>
          <a:r>
            <a:rPr lang="en-US" sz="1200" dirty="0">
              <a:latin typeface="Univers Condensed Light" panose="020B0306020202040204" pitchFamily="34" charset="0"/>
            </a:rPr>
            <a:t>Improve the system</a:t>
          </a:r>
        </a:p>
      </dgm:t>
    </dgm:pt>
    <dgm:pt modelId="{1ADAEF6D-AD18-4194-AD58-8E918B56C4F9}" type="parTrans" cxnId="{20390578-1BC2-49EE-B976-20AA70E75A3E}">
      <dgm:prSet/>
      <dgm:spPr/>
      <dgm:t>
        <a:bodyPr/>
        <a:lstStyle/>
        <a:p>
          <a:endParaRPr lang="en-US"/>
        </a:p>
      </dgm:t>
    </dgm:pt>
    <dgm:pt modelId="{18819034-C9DD-4647-99D4-57B4B46BA1B1}" type="sibTrans" cxnId="{20390578-1BC2-49EE-B976-20AA70E75A3E}">
      <dgm:prSet/>
      <dgm:spPr/>
      <dgm:t>
        <a:bodyPr/>
        <a:lstStyle/>
        <a:p>
          <a:endParaRPr lang="en-US"/>
        </a:p>
      </dgm:t>
    </dgm:pt>
    <dgm:pt modelId="{61CB6BD2-1465-40F8-B022-969C2CB9DE15}" type="pres">
      <dgm:prSet presAssocID="{54036A59-7EB4-4608-9A75-B53798B15611}" presName="diagram" presStyleCnt="0">
        <dgm:presLayoutVars>
          <dgm:dir/>
          <dgm:resizeHandles val="exact"/>
        </dgm:presLayoutVars>
      </dgm:prSet>
      <dgm:spPr/>
    </dgm:pt>
    <dgm:pt modelId="{D54A118F-B51A-474F-A8D6-6C65B2B606A7}" type="pres">
      <dgm:prSet presAssocID="{A03C5F7B-EA1F-4E18-AD75-E662B5363081}" presName="node" presStyleLbl="node1" presStyleIdx="0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E9234C7C-D730-4949-AE8A-3E599288BBD9}" type="pres">
      <dgm:prSet presAssocID="{5C8BC9FE-82B3-49C4-8248-0FE383FAFE78}" presName="sibTrans" presStyleCnt="0"/>
      <dgm:spPr/>
    </dgm:pt>
    <dgm:pt modelId="{76E88B61-1FA6-4C6D-8A1D-D176812284C7}" type="pres">
      <dgm:prSet presAssocID="{C4402099-F985-466B-9C87-0CC7526592D8}" presName="node" presStyleLbl="node1" presStyleIdx="1" presStyleCnt="3">
        <dgm:presLayoutVars>
          <dgm:bulletEnabled val="1"/>
        </dgm:presLayoutVars>
      </dgm:prSet>
      <dgm:spPr>
        <a:prstGeom prst="roundRect">
          <a:avLst/>
        </a:prstGeom>
      </dgm:spPr>
    </dgm:pt>
    <dgm:pt modelId="{8A6CE196-21D3-44F7-A51B-315165ED7518}" type="pres">
      <dgm:prSet presAssocID="{80D8548E-B4C0-442B-BCE3-8B5C3E6DDEE1}" presName="sibTrans" presStyleCnt="0"/>
      <dgm:spPr/>
    </dgm:pt>
    <dgm:pt modelId="{99BBC1F5-C500-4D08-A9F8-5DC41052032A}" type="pres">
      <dgm:prSet presAssocID="{36AD13F7-5C64-4262-80CB-FFC9A3A1E17A}" presName="node" presStyleLbl="node1" presStyleIdx="2" presStyleCnt="3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D9E8D713-8DA7-4A84-B003-59749B282882}" type="presOf" srcId="{C4402099-F985-466B-9C87-0CC7526592D8}" destId="{76E88B61-1FA6-4C6D-8A1D-D176812284C7}" srcOrd="0" destOrd="0" presId="urn:microsoft.com/office/officeart/2005/8/layout/default"/>
    <dgm:cxn modelId="{F8E01016-F84C-4534-959C-59A4BE1558F0}" type="presOf" srcId="{36AD13F7-5C64-4262-80CB-FFC9A3A1E17A}" destId="{99BBC1F5-C500-4D08-A9F8-5DC41052032A}" srcOrd="0" destOrd="0" presId="urn:microsoft.com/office/officeart/2005/8/layout/default"/>
    <dgm:cxn modelId="{322ED520-A52E-47DB-BF93-8D65071222A0}" type="presOf" srcId="{A03C5F7B-EA1F-4E18-AD75-E662B5363081}" destId="{D54A118F-B51A-474F-A8D6-6C65B2B606A7}" srcOrd="0" destOrd="0" presId="urn:microsoft.com/office/officeart/2005/8/layout/default"/>
    <dgm:cxn modelId="{F719B34B-00F0-42A1-B652-11E6B7F5F226}" type="presOf" srcId="{54036A59-7EB4-4608-9A75-B53798B15611}" destId="{61CB6BD2-1465-40F8-B022-969C2CB9DE15}" srcOrd="0" destOrd="0" presId="urn:microsoft.com/office/officeart/2005/8/layout/default"/>
    <dgm:cxn modelId="{20390578-1BC2-49EE-B976-20AA70E75A3E}" srcId="{54036A59-7EB4-4608-9A75-B53798B15611}" destId="{36AD13F7-5C64-4262-80CB-FFC9A3A1E17A}" srcOrd="2" destOrd="0" parTransId="{1ADAEF6D-AD18-4194-AD58-8E918B56C4F9}" sibTransId="{18819034-C9DD-4647-99D4-57B4B46BA1B1}"/>
    <dgm:cxn modelId="{58721997-7FDB-42CA-84AB-EE6E46D6526D}" srcId="{54036A59-7EB4-4608-9A75-B53798B15611}" destId="{A03C5F7B-EA1F-4E18-AD75-E662B5363081}" srcOrd="0" destOrd="0" parTransId="{CE24BD35-F4F3-4AAB-AF6D-366CACB048A5}" sibTransId="{5C8BC9FE-82B3-49C4-8248-0FE383FAFE78}"/>
    <dgm:cxn modelId="{4AFB82EF-76ED-4B36-BF82-DAC735DD668B}" srcId="{54036A59-7EB4-4608-9A75-B53798B15611}" destId="{C4402099-F985-466B-9C87-0CC7526592D8}" srcOrd="1" destOrd="0" parTransId="{7787B1C0-526B-46A4-A587-644DBE614BB3}" sibTransId="{80D8548E-B4C0-442B-BCE3-8B5C3E6DDEE1}"/>
    <dgm:cxn modelId="{759B9A66-AE8F-4CD6-8ED8-26477629B21B}" type="presParOf" srcId="{61CB6BD2-1465-40F8-B022-969C2CB9DE15}" destId="{D54A118F-B51A-474F-A8D6-6C65B2B606A7}" srcOrd="0" destOrd="0" presId="urn:microsoft.com/office/officeart/2005/8/layout/default"/>
    <dgm:cxn modelId="{8516914F-5ED0-4D76-8DCB-51A069FC557E}" type="presParOf" srcId="{61CB6BD2-1465-40F8-B022-969C2CB9DE15}" destId="{E9234C7C-D730-4949-AE8A-3E599288BBD9}" srcOrd="1" destOrd="0" presId="urn:microsoft.com/office/officeart/2005/8/layout/default"/>
    <dgm:cxn modelId="{8088A746-2387-4181-B8EB-4BE0D8726D07}" type="presParOf" srcId="{61CB6BD2-1465-40F8-B022-969C2CB9DE15}" destId="{76E88B61-1FA6-4C6D-8A1D-D176812284C7}" srcOrd="2" destOrd="0" presId="urn:microsoft.com/office/officeart/2005/8/layout/default"/>
    <dgm:cxn modelId="{9E068744-8C74-4022-BBAA-6E82CDED6CB6}" type="presParOf" srcId="{61CB6BD2-1465-40F8-B022-969C2CB9DE15}" destId="{8A6CE196-21D3-44F7-A51B-315165ED7518}" srcOrd="3" destOrd="0" presId="urn:microsoft.com/office/officeart/2005/8/layout/default"/>
    <dgm:cxn modelId="{C5B79123-E565-4F51-991E-A827DEB0DCEB}" type="presParOf" srcId="{61CB6BD2-1465-40F8-B022-969C2CB9DE15}" destId="{99BBC1F5-C500-4D08-A9F8-5DC41052032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C6395A-4447-4DD4-B658-9741C32BBCD0}">
      <dsp:nvSpPr>
        <dsp:cNvPr id="0" name=""/>
        <dsp:cNvSpPr/>
      </dsp:nvSpPr>
      <dsp:spPr>
        <a:xfrm>
          <a:off x="3883" y="2325498"/>
          <a:ext cx="1698005" cy="1018803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ALERT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Univers Condensed Light" panose="020B0306020202040204" pitchFamily="34" charset="0"/>
            </a:rPr>
            <a:t>A production issue triggers an alert</a:t>
          </a:r>
        </a:p>
      </dsp:txBody>
      <dsp:txXfrm>
        <a:off x="33723" y="2355338"/>
        <a:ext cx="1638325" cy="959123"/>
      </dsp:txXfrm>
    </dsp:sp>
    <dsp:sp modelId="{E8C4AE02-8F1A-46D4-A739-553A9DB00C31}">
      <dsp:nvSpPr>
        <dsp:cNvPr id="0" name=""/>
        <dsp:cNvSpPr/>
      </dsp:nvSpPr>
      <dsp:spPr>
        <a:xfrm>
          <a:off x="1871689" y="2624347"/>
          <a:ext cx="359977" cy="421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1871689" y="2708568"/>
        <a:ext cx="251984" cy="252663"/>
      </dsp:txXfrm>
    </dsp:sp>
    <dsp:sp modelId="{D7FAFE5A-5E39-4C07-8ABD-D4CCEB392935}">
      <dsp:nvSpPr>
        <dsp:cNvPr id="0" name=""/>
        <dsp:cNvSpPr/>
      </dsp:nvSpPr>
      <dsp:spPr>
        <a:xfrm>
          <a:off x="2381090" y="2325498"/>
          <a:ext cx="1698005" cy="1018803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RESPOND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Univers Condensed Light" panose="020B0306020202040204" pitchFamily="34" charset="0"/>
            </a:rPr>
            <a:t>The on-call engineer investigates</a:t>
          </a:r>
          <a:endParaRPr lang="en-US" sz="1050" kern="1200" dirty="0">
            <a:latin typeface="Oswald SemiBold" panose="00000700000000000000" pitchFamily="2" charset="0"/>
          </a:endParaRPr>
        </a:p>
      </dsp:txBody>
      <dsp:txXfrm>
        <a:off x="2410930" y="2355338"/>
        <a:ext cx="1638325" cy="959123"/>
      </dsp:txXfrm>
    </dsp:sp>
    <dsp:sp modelId="{274674F9-AC87-430B-A462-931CB1DF55C2}">
      <dsp:nvSpPr>
        <dsp:cNvPr id="0" name=""/>
        <dsp:cNvSpPr/>
      </dsp:nvSpPr>
      <dsp:spPr>
        <a:xfrm>
          <a:off x="4248896" y="2624347"/>
          <a:ext cx="359977" cy="421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4248896" y="2708568"/>
        <a:ext cx="251984" cy="252663"/>
      </dsp:txXfrm>
    </dsp:sp>
    <dsp:sp modelId="{68C36573-BAD0-4BEA-9CE5-49C6A4CF6A4C}">
      <dsp:nvSpPr>
        <dsp:cNvPr id="0" name=""/>
        <dsp:cNvSpPr/>
      </dsp:nvSpPr>
      <dsp:spPr>
        <a:xfrm>
          <a:off x="4758298" y="2325498"/>
          <a:ext cx="1698005" cy="1018803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MITIGATE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Univers Condensed Light" panose="020B0306020202040204" pitchFamily="34" charset="0"/>
            </a:rPr>
            <a:t>Impact is reduced or the service is restored</a:t>
          </a:r>
          <a:endParaRPr lang="en-US" sz="1050" kern="1200" dirty="0">
            <a:latin typeface="Oswald SemiBold" panose="00000700000000000000" pitchFamily="2" charset="0"/>
          </a:endParaRPr>
        </a:p>
      </dsp:txBody>
      <dsp:txXfrm>
        <a:off x="4788138" y="2355338"/>
        <a:ext cx="1638325" cy="959123"/>
      </dsp:txXfrm>
    </dsp:sp>
    <dsp:sp modelId="{718D97A6-6823-48ED-ABC6-C092AFE29022}">
      <dsp:nvSpPr>
        <dsp:cNvPr id="0" name=""/>
        <dsp:cNvSpPr/>
      </dsp:nvSpPr>
      <dsp:spPr>
        <a:xfrm>
          <a:off x="6626103" y="2624347"/>
          <a:ext cx="359977" cy="421105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>
        <a:off x="6626103" y="2708568"/>
        <a:ext cx="251984" cy="252663"/>
      </dsp:txXfrm>
    </dsp:sp>
    <dsp:sp modelId="{17FC8B61-C75B-47F9-93EE-3F0E938258CA}">
      <dsp:nvSpPr>
        <dsp:cNvPr id="0" name=""/>
        <dsp:cNvSpPr/>
      </dsp:nvSpPr>
      <dsp:spPr>
        <a:xfrm>
          <a:off x="7135505" y="2325498"/>
          <a:ext cx="1698005" cy="1018803"/>
        </a:xfrm>
        <a:prstGeom prst="roundRect">
          <a:avLst>
            <a:gd name="adj" fmla="val 10000"/>
          </a:avLst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ESCALATE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>
              <a:latin typeface="Univers Condensed Light" panose="020B0306020202040204" pitchFamily="34" charset="0"/>
            </a:rPr>
            <a:t>Backup help is contacted when needed</a:t>
          </a:r>
          <a:endParaRPr lang="en-US" sz="1050" kern="1200" dirty="0">
            <a:latin typeface="Oswald SemiBold" panose="00000700000000000000" pitchFamily="2" charset="0"/>
          </a:endParaRPr>
        </a:p>
      </dsp:txBody>
      <dsp:txXfrm>
        <a:off x="7165345" y="2355338"/>
        <a:ext cx="1638325" cy="95912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BEAE60-A8C8-4F64-9777-D8D2CA0EB440}">
      <dsp:nvSpPr>
        <dsp:cNvPr id="0" name=""/>
        <dsp:cNvSpPr/>
      </dsp:nvSpPr>
      <dsp:spPr>
        <a:xfrm>
          <a:off x="1037083" y="289031"/>
          <a:ext cx="1113988" cy="1113988"/>
        </a:xfrm>
        <a:prstGeom prst="rect">
          <a:avLst/>
        </a:prstGeom>
        <a:blipFill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444C5C-EF62-47DC-B820-27CEBF3E9412}">
      <dsp:nvSpPr>
        <dsp:cNvPr id="0" name=""/>
        <dsp:cNvSpPr/>
      </dsp:nvSpPr>
      <dsp:spPr>
        <a:xfrm>
          <a:off x="356313" y="1758629"/>
          <a:ext cx="2475529" cy="900000"/>
        </a:xfrm>
        <a:prstGeom prst="rect">
          <a:avLst/>
        </a:prstGeom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Oswald SemiBold" panose="00000700000000000000" pitchFamily="2" charset="0"/>
            </a:rPr>
            <a:t>BUILD IT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Developers create and change the service</a:t>
          </a:r>
        </a:p>
      </dsp:txBody>
      <dsp:txXfrm>
        <a:off x="356313" y="1758629"/>
        <a:ext cx="2475529" cy="900000"/>
      </dsp:txXfrm>
    </dsp:sp>
    <dsp:sp modelId="{7BA6433C-517A-499C-B022-310B5525F618}">
      <dsp:nvSpPr>
        <dsp:cNvPr id="0" name=""/>
        <dsp:cNvSpPr/>
      </dsp:nvSpPr>
      <dsp:spPr>
        <a:xfrm>
          <a:off x="3945831" y="289031"/>
          <a:ext cx="1113988" cy="1113988"/>
        </a:xfrm>
        <a:prstGeom prst="rect">
          <a:avLst/>
        </a:prstGeom>
        <a:blipFill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8647C-8FF6-493A-9FD2-6EAFE4D3C089}">
      <dsp:nvSpPr>
        <dsp:cNvPr id="0" name=""/>
        <dsp:cNvSpPr/>
      </dsp:nvSpPr>
      <dsp:spPr>
        <a:xfrm>
          <a:off x="3265060" y="1758629"/>
          <a:ext cx="2475529" cy="900000"/>
        </a:xfrm>
        <a:prstGeom prst="rect">
          <a:avLst/>
        </a:prstGeom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>
              <a:latin typeface="Oswald SemiBold" panose="00000700000000000000" pitchFamily="2" charset="0"/>
            </a:rPr>
            <a:t>RUN IT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>
              <a:latin typeface="Univers Condensed Light" panose="020B0306020202040204" pitchFamily="34" charset="0"/>
            </a:rPr>
            <a:t>Teams see how the service behaves in production</a:t>
          </a:r>
        </a:p>
      </dsp:txBody>
      <dsp:txXfrm>
        <a:off x="3265060" y="1758629"/>
        <a:ext cx="2475529" cy="900000"/>
      </dsp:txXfrm>
    </dsp:sp>
    <dsp:sp modelId="{2905C68F-F7C7-4077-BE09-99CAD9BA0EB9}">
      <dsp:nvSpPr>
        <dsp:cNvPr id="0" name=""/>
        <dsp:cNvSpPr/>
      </dsp:nvSpPr>
      <dsp:spPr>
        <a:xfrm>
          <a:off x="6854578" y="289031"/>
          <a:ext cx="1113988" cy="1113988"/>
        </a:xfrm>
        <a:prstGeom prst="rect">
          <a:avLst/>
        </a:prstGeom>
        <a:blipFill dpi="0" rotWithShape="1">
          <a:blip xmlns:r="http://schemas.openxmlformats.org/officeDocument/2006/relationships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FABE4-9D7F-43FA-AB5D-0728259F0F79}">
      <dsp:nvSpPr>
        <dsp:cNvPr id="0" name=""/>
        <dsp:cNvSpPr/>
      </dsp:nvSpPr>
      <dsp:spPr>
        <a:xfrm>
          <a:off x="6173808" y="1758629"/>
          <a:ext cx="2475529" cy="900000"/>
        </a:xfrm>
        <a:prstGeom prst="rect">
          <a:avLst/>
        </a:prstGeom>
        <a:noFill/>
        <a:ln>
          <a:noFill/>
          <a:extLst>
            <a:ext uri="{C807C97D-BFC1-408E-A445-0C87EB9F89A2}">
              <ask:lineSketchStyleProps xmlns:ask="http://schemas.microsoft.com/office/drawing/2018/sketchyshapes">
                <ask:type>
                  <ask:lineSketchCurved/>
                </ask:type>
              </ask:lineSketchStyleProps>
            </a:ext>
          </a:extLst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accent2"/>
        </a:fontRef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Oswald SemiBold" panose="00000700000000000000" pitchFamily="2" charset="0"/>
            </a:rPr>
            <a:t>IMPROVE IT</a:t>
          </a:r>
        </a:p>
        <a:p>
          <a:pPr marL="0" lvl="0" indent="0" algn="ctr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Incidents reveal what needs better monitoring, automation, or design</a:t>
          </a:r>
        </a:p>
      </dsp:txBody>
      <dsp:txXfrm>
        <a:off x="6173808" y="1758629"/>
        <a:ext cx="2475529" cy="90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A118F-B51A-474F-A8D6-6C65B2B606A7}">
      <dsp:nvSpPr>
        <dsp:cNvPr id="0" name=""/>
        <dsp:cNvSpPr/>
      </dsp:nvSpPr>
      <dsp:spPr>
        <a:xfrm>
          <a:off x="0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PAGE NOW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Service outage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Major customer impact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Immediate human action needed</a:t>
          </a:r>
        </a:p>
      </dsp:txBody>
      <dsp:txXfrm>
        <a:off x="74177" y="919065"/>
        <a:ext cx="2384186" cy="1371170"/>
      </dsp:txXfrm>
    </dsp:sp>
    <dsp:sp modelId="{76E88B61-1FA6-4C6D-8A1D-D176812284C7}">
      <dsp:nvSpPr>
        <dsp:cNvPr id="0" name=""/>
        <dsp:cNvSpPr/>
      </dsp:nvSpPr>
      <dsp:spPr>
        <a:xfrm>
          <a:off x="2785795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REVIEW LATER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Low-priority warning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Trend to investigate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Issue that can wait for business hours</a:t>
          </a:r>
        </a:p>
      </dsp:txBody>
      <dsp:txXfrm>
        <a:off x="2859972" y="919065"/>
        <a:ext cx="2384186" cy="1371170"/>
      </dsp:txXfrm>
    </dsp:sp>
    <dsp:sp modelId="{99BBC1F5-C500-4D08-A9F8-5DC41052032A}">
      <dsp:nvSpPr>
        <dsp:cNvPr id="0" name=""/>
        <dsp:cNvSpPr/>
      </dsp:nvSpPr>
      <dsp:spPr>
        <a:xfrm>
          <a:off x="5571590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FIX THE ALERT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False positive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Duplicate notification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Repeated noisy alert</a:t>
          </a:r>
        </a:p>
      </dsp:txBody>
      <dsp:txXfrm>
        <a:off x="5645767" y="919065"/>
        <a:ext cx="2384186" cy="137117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4A118F-B51A-474F-A8D6-6C65B2B606A7}">
      <dsp:nvSpPr>
        <dsp:cNvPr id="0" name=""/>
        <dsp:cNvSpPr/>
      </dsp:nvSpPr>
      <dsp:spPr>
        <a:xfrm>
          <a:off x="0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DURING ON-CALL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Clear expectations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Backup support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Useful tools and runbooks</a:t>
          </a:r>
        </a:p>
      </dsp:txBody>
      <dsp:txXfrm>
        <a:off x="74177" y="919065"/>
        <a:ext cx="2384186" cy="1371170"/>
      </dsp:txXfrm>
    </dsp:sp>
    <dsp:sp modelId="{76E88B61-1FA6-4C6D-8A1D-D176812284C7}">
      <dsp:nvSpPr>
        <dsp:cNvPr id="0" name=""/>
        <dsp:cNvSpPr/>
      </dsp:nvSpPr>
      <dsp:spPr>
        <a:xfrm>
          <a:off x="2785795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AFTER A ROUGH NIGHT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Recovery time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Adjusted workload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Team support</a:t>
          </a:r>
        </a:p>
      </dsp:txBody>
      <dsp:txXfrm>
        <a:off x="2859972" y="919065"/>
        <a:ext cx="2384186" cy="1371170"/>
      </dsp:txXfrm>
    </dsp:sp>
    <dsp:sp modelId="{99BBC1F5-C500-4D08-A9F8-5DC41052032A}">
      <dsp:nvSpPr>
        <dsp:cNvPr id="0" name=""/>
        <dsp:cNvSpPr/>
      </dsp:nvSpPr>
      <dsp:spPr>
        <a:xfrm>
          <a:off x="5571590" y="844888"/>
          <a:ext cx="2532540" cy="1519524"/>
        </a:xfrm>
        <a:prstGeom prst="roundRect">
          <a:avLst/>
        </a:prstGeom>
        <a:solidFill>
          <a:schemeClr val="accent2"/>
        </a:solidFill>
        <a:ln w="25400" cap="flat" cmpd="sng" algn="ctr">
          <a:solidFill>
            <a:schemeClr val="lt1"/>
          </a:solidFill>
          <a:prstDash val="solid"/>
          <a:miter lim="800000"/>
          <a:extLst>
            <a:ext uri="{C807C97D-BFC1-408E-A445-0C87EB9F89A2}">
              <ask:lineSketchStyleProps xmlns:ask="http://schemas.microsoft.com/office/drawing/2018/sketchyshapes">
                <ask:type>
                  <ask:lineSketchFreehand/>
                </ask:type>
              </ask:lineSketchStyleProps>
            </a:ext>
          </a:extLst>
        </a:ln>
        <a:effectLst/>
      </dsp:spPr>
      <dsp:style>
        <a:lnRef idx="3">
          <a:schemeClr val="lt1"/>
        </a:lnRef>
        <a:fillRef idx="1">
          <a:schemeClr val="accent2"/>
        </a:fillRef>
        <a:effectRef idx="1">
          <a:schemeClr val="accent2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Oswald SemiBold" panose="00000700000000000000" pitchFamily="2" charset="0"/>
            </a:rPr>
            <a:t>AFTER THE INCIDENT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Blameless review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Fix recurring problems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Univers Condensed Light" panose="020B0306020202040204" pitchFamily="34" charset="0"/>
            </a:rPr>
            <a:t>Improve the system</a:t>
          </a:r>
        </a:p>
      </dsp:txBody>
      <dsp:txXfrm>
        <a:off x="5645767" y="919065"/>
        <a:ext cx="2384186" cy="137117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1953CF0-EBF8-870D-0462-0C31A28BD3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C2503-943F-D229-80A9-6C2F15CE70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4E777-76CB-4BF8-B855-610B12EB3C6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31EBA1-7C18-5805-28B1-82C9FD4C45D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AB723D-2CBD-39D6-2B1E-EA03391198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C35E7-9952-46B8-BF21-17616CE72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5971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66F3D6-DC5A-45C7-BA5C-DA4890E0A8D7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C5E014-F6E8-42DA-BDDF-17FD97B811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054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EC864-D014-287F-E650-677F103387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08C029-026A-54A9-BADD-618078C0E5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34C96E-261C-2B62-FF36-C20D8375F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385064-CE72-26B0-E984-92B0D9195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24953-147C-440D-3BD5-8661CFD40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BBEF6-8773-082A-6A8D-8C64C7063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6E1C34-6FBE-ADE3-D124-5F5F525C5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1F92-656F-20AF-4D88-42A7F6959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AED3C-95EB-710A-256D-2C9540D9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93BE6C-5D55-9254-6B9B-D83E8AFB2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201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F01FC-3250-2DBC-8B40-9B07E758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6D7DD-EA7D-3BE5-F0C3-AC403AF57A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00B7C3-138B-28F7-95A4-E7DB7D64AE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437A5-DF36-CCF4-EEF7-4797F4DDC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0893D-BF6B-8E7E-BD9A-9CB0C9686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1249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5BF67-610E-B25E-67D9-CFF8404E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985E1-7D9A-7D63-9166-3FB51C47C5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42A18C-F30F-F1C3-1A75-C242DF6F05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01C26A-CB1C-A5F3-93B1-8456C11A3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B3A516-339B-29BA-1928-9474625A6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410AD-4ED8-5E21-40E7-1D845869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080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4BE72-AEB7-AD5A-F474-42E3C4717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B49203-2DB9-6C3B-9E71-DBD4275FF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23921C-D678-4361-8776-B95AF59E4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C69E4C-4C5F-CC72-C52C-A8CDC63FFA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324227-0476-7E17-F448-9A4EC22E6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F98BED-219D-11BA-A0C3-A00E8DB60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9610AD-C66E-EC26-565D-733B239A3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21C5B-8A8E-7809-66C3-B58C324A2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1038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BB466-0CC9-90A3-F43F-5F4B9541E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A3B4A6-7364-8AA0-1F36-BE01CF981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307D5F-C121-D763-9947-D4BC9F54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9291A-3281-4C07-7069-8C2EB8BAE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973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2C846B-3342-A3C6-CA41-2C9DC8B9A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875BEB-B90E-A2CE-938E-5C3D914B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1FA8D-D957-76D9-7208-BB64F1A41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6125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6C828-0A57-A7E9-8EBF-141E49FA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9AE6C8-97B2-1E02-1B24-5E40327C9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B3005E-8303-E87C-61D9-D6BC802E6E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104442-5214-FEAA-ED3C-0F68481C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097BB-02EA-B1E2-468D-2F9060BB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EC9222-0A9C-8EE5-FCBF-FA187F80E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75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376F0-632D-336A-2FEF-DD1ED86F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065B825-6FC3-89B3-2E1F-4E594E91E6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B2893-AD75-AC6A-42BE-B869BD426E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4330DC-71C8-DDE5-DF12-7D3526697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EA9AE7-DC4D-8DB6-8331-18303A878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A0D326-7802-1644-0833-4CA21C9B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174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6ABC6-022C-DB3A-48D1-BDA98EEB8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519E44-24BE-59E1-0152-0A4296B7A4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729ED-97E9-6F22-E645-510E5809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387FA-E9F3-1385-80EC-C45CD1836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47158-2753-C0E7-267C-331D1128B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559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7225F-EA24-0857-B037-EF9883D1CA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C63677-0A67-7EEB-0559-409DA36D0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BFB7C-6AD1-E0DD-3EC5-3D48093E1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558F30-BB88-9BB9-EB48-48B56FB7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EA135-D429-0B79-7F10-7AD4D0C96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865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C25DE9-B145-21D5-1B21-0FC9ADC58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BC014C-8E6F-82B1-3F21-FFE9F92E4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F5E64-6997-CC9C-530A-C5CB05AE5B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7A7A04-7574-4A2C-AD38-A1D2D8D59D5F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0D0FF-6333-5871-0D5E-896D74BC4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ED559-F1BF-4F08-E0C8-B9F0A45C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B46BAE-5039-463B-9354-355978A61C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513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response.pagerduty.com/oncall/being_oncall/" TargetMode="External"/><Relationship Id="rId3" Type="http://schemas.openxmlformats.org/officeDocument/2006/relationships/hyperlink" Target="https://www.atlassian.com/incident-management/on-call/improving-on-call" TargetMode="External"/><Relationship Id="rId7" Type="http://schemas.openxmlformats.org/officeDocument/2006/relationships/hyperlink" Target="https://www.pagerduty.com/resources/incident-management-response/learn/call-rotations-schedules/" TargetMode="External"/><Relationship Id="rId2" Type="http://schemas.openxmlformats.org/officeDocument/2006/relationships/hyperlink" Target="https://www.atlassian.com/incident-management/on-call/on-call-schedule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pagerduty.com/main/docs/escalation-policies-and-schedules" TargetMode="External"/><Relationship Id="rId5" Type="http://schemas.openxmlformats.org/officeDocument/2006/relationships/hyperlink" Target="https://sre.google/sre-book/being-on-call/" TargetMode="External"/><Relationship Id="rId4" Type="http://schemas.openxmlformats.org/officeDocument/2006/relationships/hyperlink" Target="https://sre.google/workbook/on-call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4D24BFD5-D814-402B-B6C4-EEF6AE14B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9263CF-AF03-901B-ADC5-1C0CD1C07D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122362"/>
            <a:ext cx="6281928" cy="4135437"/>
          </a:xfrm>
        </p:spPr>
        <p:txBody>
          <a:bodyPr>
            <a:normAutofit/>
          </a:bodyPr>
          <a:lstStyle/>
          <a:p>
            <a:pPr algn="l"/>
            <a:r>
              <a:rPr lang="en-US" sz="6600">
                <a:latin typeface="Oswald SemiBold" panose="00000700000000000000" pitchFamily="2" charset="0"/>
              </a:rPr>
              <a:t>PAGER ROTATION DUTIES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36FED7E8-9A97-475F-9FA4-113410D44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06139" y="1031284"/>
            <a:ext cx="3647661" cy="4436126"/>
          </a:xfrm>
          <a:custGeom>
            <a:avLst/>
            <a:gdLst>
              <a:gd name="csX0" fmla="*/ 0 w 3647661"/>
              <a:gd name="csY0" fmla="*/ 0 h 4436126"/>
              <a:gd name="csX1" fmla="*/ 498514 w 3647661"/>
              <a:gd name="csY1" fmla="*/ 0 h 4436126"/>
              <a:gd name="csX2" fmla="*/ 1069981 w 3647661"/>
              <a:gd name="csY2" fmla="*/ 0 h 4436126"/>
              <a:gd name="csX3" fmla="*/ 1714401 w 3647661"/>
              <a:gd name="csY3" fmla="*/ 0 h 4436126"/>
              <a:gd name="csX4" fmla="*/ 2285868 w 3647661"/>
              <a:gd name="csY4" fmla="*/ 0 h 4436126"/>
              <a:gd name="csX5" fmla="*/ 2784381 w 3647661"/>
              <a:gd name="csY5" fmla="*/ 0 h 4436126"/>
              <a:gd name="csX6" fmla="*/ 3647661 w 3647661"/>
              <a:gd name="csY6" fmla="*/ 0 h 4436126"/>
              <a:gd name="csX7" fmla="*/ 3647661 w 3647661"/>
              <a:gd name="csY7" fmla="*/ 633732 h 4436126"/>
              <a:gd name="csX8" fmla="*/ 3647661 w 3647661"/>
              <a:gd name="csY8" fmla="*/ 1267465 h 4436126"/>
              <a:gd name="csX9" fmla="*/ 3647661 w 3647661"/>
              <a:gd name="csY9" fmla="*/ 1768113 h 4436126"/>
              <a:gd name="csX10" fmla="*/ 3647661 w 3647661"/>
              <a:gd name="csY10" fmla="*/ 2446207 h 4436126"/>
              <a:gd name="csX11" fmla="*/ 3647661 w 3647661"/>
              <a:gd name="csY11" fmla="*/ 2946855 h 4436126"/>
              <a:gd name="csX12" fmla="*/ 3647661 w 3647661"/>
              <a:gd name="csY12" fmla="*/ 3580587 h 4436126"/>
              <a:gd name="csX13" fmla="*/ 3647661 w 3647661"/>
              <a:gd name="csY13" fmla="*/ 4436126 h 4436126"/>
              <a:gd name="csX14" fmla="*/ 3039718 w 3647661"/>
              <a:gd name="csY14" fmla="*/ 4436126 h 4436126"/>
              <a:gd name="csX15" fmla="*/ 2431774 w 3647661"/>
              <a:gd name="csY15" fmla="*/ 4436126 h 4436126"/>
              <a:gd name="csX16" fmla="*/ 1823831 w 3647661"/>
              <a:gd name="csY16" fmla="*/ 4436126 h 4436126"/>
              <a:gd name="csX17" fmla="*/ 1288840 w 3647661"/>
              <a:gd name="csY17" fmla="*/ 4436126 h 4436126"/>
              <a:gd name="csX18" fmla="*/ 607943 w 3647661"/>
              <a:gd name="csY18" fmla="*/ 4436126 h 4436126"/>
              <a:gd name="csX19" fmla="*/ 0 w 3647661"/>
              <a:gd name="csY19" fmla="*/ 4436126 h 4436126"/>
              <a:gd name="csX20" fmla="*/ 0 w 3647661"/>
              <a:gd name="csY20" fmla="*/ 3758032 h 4436126"/>
              <a:gd name="csX21" fmla="*/ 0 w 3647661"/>
              <a:gd name="csY21" fmla="*/ 3035578 h 4436126"/>
              <a:gd name="csX22" fmla="*/ 0 w 3647661"/>
              <a:gd name="csY22" fmla="*/ 2401845 h 4436126"/>
              <a:gd name="csX23" fmla="*/ 0 w 3647661"/>
              <a:gd name="csY23" fmla="*/ 1768113 h 4436126"/>
              <a:gd name="csX24" fmla="*/ 0 w 3647661"/>
              <a:gd name="csY24" fmla="*/ 1178742 h 4436126"/>
              <a:gd name="csX25" fmla="*/ 0 w 3647661"/>
              <a:gd name="csY25" fmla="*/ 589371 h 4436126"/>
              <a:gd name="csX26" fmla="*/ 0 w 3647661"/>
              <a:gd name="csY26" fmla="*/ 0 h 443612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47661" h="4436126" fill="none" extrusionOk="0">
                <a:moveTo>
                  <a:pt x="0" y="0"/>
                </a:moveTo>
                <a:cubicBezTo>
                  <a:pt x="116158" y="-16963"/>
                  <a:pt x="364681" y="-4006"/>
                  <a:pt x="498514" y="0"/>
                </a:cubicBezTo>
                <a:cubicBezTo>
                  <a:pt x="632347" y="4006"/>
                  <a:pt x="950865" y="15164"/>
                  <a:pt x="1069981" y="0"/>
                </a:cubicBezTo>
                <a:cubicBezTo>
                  <a:pt x="1189097" y="-15164"/>
                  <a:pt x="1556518" y="-23132"/>
                  <a:pt x="1714401" y="0"/>
                </a:cubicBezTo>
                <a:cubicBezTo>
                  <a:pt x="1872284" y="23132"/>
                  <a:pt x="2015985" y="9364"/>
                  <a:pt x="2285868" y="0"/>
                </a:cubicBezTo>
                <a:cubicBezTo>
                  <a:pt x="2555751" y="-9364"/>
                  <a:pt x="2555148" y="14141"/>
                  <a:pt x="2784381" y="0"/>
                </a:cubicBezTo>
                <a:cubicBezTo>
                  <a:pt x="3013614" y="-14141"/>
                  <a:pt x="3216105" y="-3763"/>
                  <a:pt x="3647661" y="0"/>
                </a:cubicBezTo>
                <a:cubicBezTo>
                  <a:pt x="3623206" y="221859"/>
                  <a:pt x="3622213" y="458853"/>
                  <a:pt x="3647661" y="633732"/>
                </a:cubicBezTo>
                <a:cubicBezTo>
                  <a:pt x="3673109" y="808611"/>
                  <a:pt x="3674779" y="1138417"/>
                  <a:pt x="3647661" y="1267465"/>
                </a:cubicBezTo>
                <a:cubicBezTo>
                  <a:pt x="3620543" y="1396513"/>
                  <a:pt x="3664792" y="1625185"/>
                  <a:pt x="3647661" y="1768113"/>
                </a:cubicBezTo>
                <a:cubicBezTo>
                  <a:pt x="3630530" y="1911041"/>
                  <a:pt x="3671056" y="2135008"/>
                  <a:pt x="3647661" y="2446207"/>
                </a:cubicBezTo>
                <a:cubicBezTo>
                  <a:pt x="3624266" y="2757406"/>
                  <a:pt x="3642702" y="2713342"/>
                  <a:pt x="3647661" y="2946855"/>
                </a:cubicBezTo>
                <a:cubicBezTo>
                  <a:pt x="3652620" y="3180368"/>
                  <a:pt x="3664319" y="3290221"/>
                  <a:pt x="3647661" y="3580587"/>
                </a:cubicBezTo>
                <a:cubicBezTo>
                  <a:pt x="3631003" y="3870953"/>
                  <a:pt x="3617531" y="4259425"/>
                  <a:pt x="3647661" y="4436126"/>
                </a:cubicBezTo>
                <a:cubicBezTo>
                  <a:pt x="3523929" y="4410412"/>
                  <a:pt x="3241413" y="4436068"/>
                  <a:pt x="3039718" y="4436126"/>
                </a:cubicBezTo>
                <a:cubicBezTo>
                  <a:pt x="2838023" y="4436184"/>
                  <a:pt x="2630387" y="4431142"/>
                  <a:pt x="2431774" y="4436126"/>
                </a:cubicBezTo>
                <a:cubicBezTo>
                  <a:pt x="2233161" y="4441110"/>
                  <a:pt x="2003296" y="4449826"/>
                  <a:pt x="1823831" y="4436126"/>
                </a:cubicBezTo>
                <a:cubicBezTo>
                  <a:pt x="1644366" y="4422426"/>
                  <a:pt x="1399453" y="4442442"/>
                  <a:pt x="1288840" y="4436126"/>
                </a:cubicBezTo>
                <a:cubicBezTo>
                  <a:pt x="1178227" y="4429810"/>
                  <a:pt x="793482" y="4411099"/>
                  <a:pt x="607943" y="4436126"/>
                </a:cubicBezTo>
                <a:cubicBezTo>
                  <a:pt x="422404" y="4461153"/>
                  <a:pt x="158703" y="4453091"/>
                  <a:pt x="0" y="4436126"/>
                </a:cubicBezTo>
                <a:cubicBezTo>
                  <a:pt x="8129" y="4099466"/>
                  <a:pt x="23502" y="4014012"/>
                  <a:pt x="0" y="3758032"/>
                </a:cubicBezTo>
                <a:cubicBezTo>
                  <a:pt x="-23502" y="3502052"/>
                  <a:pt x="8018" y="3295661"/>
                  <a:pt x="0" y="3035578"/>
                </a:cubicBezTo>
                <a:cubicBezTo>
                  <a:pt x="-8018" y="2775495"/>
                  <a:pt x="-8720" y="2595880"/>
                  <a:pt x="0" y="2401845"/>
                </a:cubicBezTo>
                <a:cubicBezTo>
                  <a:pt x="8720" y="2207810"/>
                  <a:pt x="9279" y="1982551"/>
                  <a:pt x="0" y="1768113"/>
                </a:cubicBezTo>
                <a:cubicBezTo>
                  <a:pt x="-9279" y="1553675"/>
                  <a:pt x="7090" y="1354447"/>
                  <a:pt x="0" y="1178742"/>
                </a:cubicBezTo>
                <a:cubicBezTo>
                  <a:pt x="-7090" y="1003037"/>
                  <a:pt x="-23786" y="768334"/>
                  <a:pt x="0" y="589371"/>
                </a:cubicBezTo>
                <a:cubicBezTo>
                  <a:pt x="23786" y="410408"/>
                  <a:pt x="-16955" y="242082"/>
                  <a:pt x="0" y="0"/>
                </a:cubicBezTo>
                <a:close/>
              </a:path>
              <a:path w="3647661" h="4436126" stroke="0" extrusionOk="0">
                <a:moveTo>
                  <a:pt x="0" y="0"/>
                </a:moveTo>
                <a:cubicBezTo>
                  <a:pt x="171149" y="-7244"/>
                  <a:pt x="374684" y="2591"/>
                  <a:pt x="534990" y="0"/>
                </a:cubicBezTo>
                <a:cubicBezTo>
                  <a:pt x="695296" y="-2591"/>
                  <a:pt x="907320" y="7483"/>
                  <a:pt x="1069981" y="0"/>
                </a:cubicBezTo>
                <a:cubicBezTo>
                  <a:pt x="1232642" y="-7483"/>
                  <a:pt x="1543604" y="-26203"/>
                  <a:pt x="1677924" y="0"/>
                </a:cubicBezTo>
                <a:cubicBezTo>
                  <a:pt x="1812244" y="26203"/>
                  <a:pt x="2140632" y="31361"/>
                  <a:pt x="2322344" y="0"/>
                </a:cubicBezTo>
                <a:cubicBezTo>
                  <a:pt x="2504056" y="-31361"/>
                  <a:pt x="2658834" y="3381"/>
                  <a:pt x="2893811" y="0"/>
                </a:cubicBezTo>
                <a:cubicBezTo>
                  <a:pt x="3128788" y="-3381"/>
                  <a:pt x="3338741" y="-10376"/>
                  <a:pt x="3647661" y="0"/>
                </a:cubicBezTo>
                <a:cubicBezTo>
                  <a:pt x="3628986" y="244498"/>
                  <a:pt x="3624774" y="362520"/>
                  <a:pt x="3647661" y="545010"/>
                </a:cubicBezTo>
                <a:cubicBezTo>
                  <a:pt x="3670549" y="727500"/>
                  <a:pt x="3619543" y="968439"/>
                  <a:pt x="3647661" y="1134381"/>
                </a:cubicBezTo>
                <a:cubicBezTo>
                  <a:pt x="3675779" y="1300323"/>
                  <a:pt x="3670065" y="1646297"/>
                  <a:pt x="3647661" y="1856836"/>
                </a:cubicBezTo>
                <a:cubicBezTo>
                  <a:pt x="3625257" y="2067375"/>
                  <a:pt x="3632904" y="2315399"/>
                  <a:pt x="3647661" y="2490568"/>
                </a:cubicBezTo>
                <a:cubicBezTo>
                  <a:pt x="3662418" y="2665737"/>
                  <a:pt x="3616073" y="2880164"/>
                  <a:pt x="3647661" y="3124300"/>
                </a:cubicBezTo>
                <a:cubicBezTo>
                  <a:pt x="3679249" y="3368436"/>
                  <a:pt x="3677361" y="3519722"/>
                  <a:pt x="3647661" y="3758032"/>
                </a:cubicBezTo>
                <a:cubicBezTo>
                  <a:pt x="3617961" y="3996342"/>
                  <a:pt x="3615180" y="4147465"/>
                  <a:pt x="3647661" y="4436126"/>
                </a:cubicBezTo>
                <a:cubicBezTo>
                  <a:pt x="3506685" y="4421969"/>
                  <a:pt x="3266652" y="4433618"/>
                  <a:pt x="3149147" y="4436126"/>
                </a:cubicBezTo>
                <a:cubicBezTo>
                  <a:pt x="3031642" y="4438634"/>
                  <a:pt x="2832267" y="4432536"/>
                  <a:pt x="2650634" y="4436126"/>
                </a:cubicBezTo>
                <a:cubicBezTo>
                  <a:pt x="2469001" y="4439716"/>
                  <a:pt x="2324677" y="4416284"/>
                  <a:pt x="2042690" y="4436126"/>
                </a:cubicBezTo>
                <a:cubicBezTo>
                  <a:pt x="1760703" y="4455968"/>
                  <a:pt x="1686949" y="4416099"/>
                  <a:pt x="1398270" y="4436126"/>
                </a:cubicBezTo>
                <a:cubicBezTo>
                  <a:pt x="1109591" y="4456153"/>
                  <a:pt x="1071585" y="4455485"/>
                  <a:pt x="899756" y="4436126"/>
                </a:cubicBezTo>
                <a:cubicBezTo>
                  <a:pt x="727927" y="4416767"/>
                  <a:pt x="344407" y="4430463"/>
                  <a:pt x="0" y="4436126"/>
                </a:cubicBezTo>
                <a:cubicBezTo>
                  <a:pt x="5440" y="4303018"/>
                  <a:pt x="91" y="4161914"/>
                  <a:pt x="0" y="3891116"/>
                </a:cubicBezTo>
                <a:cubicBezTo>
                  <a:pt x="-91" y="3620318"/>
                  <a:pt x="-11601" y="3462294"/>
                  <a:pt x="0" y="3301745"/>
                </a:cubicBezTo>
                <a:cubicBezTo>
                  <a:pt x="11601" y="3141196"/>
                  <a:pt x="22776" y="2916996"/>
                  <a:pt x="0" y="2756735"/>
                </a:cubicBezTo>
                <a:cubicBezTo>
                  <a:pt x="-22776" y="2596474"/>
                  <a:pt x="5257" y="2440491"/>
                  <a:pt x="0" y="2256087"/>
                </a:cubicBezTo>
                <a:cubicBezTo>
                  <a:pt x="-5257" y="2071683"/>
                  <a:pt x="20189" y="1902567"/>
                  <a:pt x="0" y="1666716"/>
                </a:cubicBezTo>
                <a:cubicBezTo>
                  <a:pt x="-20189" y="1430865"/>
                  <a:pt x="-21241" y="1161108"/>
                  <a:pt x="0" y="988622"/>
                </a:cubicBezTo>
                <a:cubicBezTo>
                  <a:pt x="21241" y="816136"/>
                  <a:pt x="17108" y="40674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57150"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68728339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7F67D-BAA1-BFDF-B785-13520A7580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28114" y="1232452"/>
            <a:ext cx="3200400" cy="3850919"/>
          </a:xfrm>
        </p:spPr>
        <p:txBody>
          <a:bodyPr anchor="b"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  <a:latin typeface="Oswald SemiBold" panose="00000700000000000000" pitchFamily="2" charset="0"/>
              </a:rPr>
              <a:t>Industry Best Practices in the DevOps Model</a:t>
            </a:r>
          </a:p>
          <a:p>
            <a:pPr algn="l"/>
            <a:r>
              <a:rPr lang="en-US" sz="1400" dirty="0">
                <a:solidFill>
                  <a:srgbClr val="FFFFFF"/>
                </a:solidFill>
                <a:latin typeface="Oswald SemiBold" panose="00000700000000000000" pitchFamily="2" charset="0"/>
              </a:rPr>
              <a:t>Amanda Brock | CSD 380</a:t>
            </a:r>
          </a:p>
        </p:txBody>
      </p:sp>
      <p:sp>
        <p:nvSpPr>
          <p:cNvPr id="77" name="sketch line">
            <a:extLst>
              <a:ext uri="{FF2B5EF4-FFF2-40B4-BE49-F238E27FC236}">
                <a16:creationId xmlns:a16="http://schemas.microsoft.com/office/drawing/2014/main" id="{2A39B854-4B6C-4F7F-A602-6F97770CED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5439978"/>
            <a:ext cx="6281928" cy="18288"/>
          </a:xfrm>
          <a:custGeom>
            <a:avLst/>
            <a:gdLst>
              <a:gd name="csX0" fmla="*/ 0 w 6281928"/>
              <a:gd name="csY0" fmla="*/ 0 h 18288"/>
              <a:gd name="csX1" fmla="*/ 572353 w 6281928"/>
              <a:gd name="csY1" fmla="*/ 0 h 18288"/>
              <a:gd name="csX2" fmla="*/ 1207526 w 6281928"/>
              <a:gd name="csY2" fmla="*/ 0 h 18288"/>
              <a:gd name="csX3" fmla="*/ 1779880 w 6281928"/>
              <a:gd name="csY3" fmla="*/ 0 h 18288"/>
              <a:gd name="csX4" fmla="*/ 2540691 w 6281928"/>
              <a:gd name="csY4" fmla="*/ 0 h 18288"/>
              <a:gd name="csX5" fmla="*/ 3238683 w 6281928"/>
              <a:gd name="csY5" fmla="*/ 0 h 18288"/>
              <a:gd name="csX6" fmla="*/ 3936675 w 6281928"/>
              <a:gd name="csY6" fmla="*/ 0 h 18288"/>
              <a:gd name="csX7" fmla="*/ 4760305 w 6281928"/>
              <a:gd name="csY7" fmla="*/ 0 h 18288"/>
              <a:gd name="csX8" fmla="*/ 5521117 w 6281928"/>
              <a:gd name="csY8" fmla="*/ 0 h 18288"/>
              <a:gd name="csX9" fmla="*/ 6281928 w 6281928"/>
              <a:gd name="csY9" fmla="*/ 0 h 18288"/>
              <a:gd name="csX10" fmla="*/ 6281928 w 6281928"/>
              <a:gd name="csY10" fmla="*/ 18288 h 18288"/>
              <a:gd name="csX11" fmla="*/ 5772394 w 6281928"/>
              <a:gd name="csY11" fmla="*/ 18288 h 18288"/>
              <a:gd name="csX12" fmla="*/ 5200040 w 6281928"/>
              <a:gd name="csY12" fmla="*/ 18288 h 18288"/>
              <a:gd name="csX13" fmla="*/ 4439229 w 6281928"/>
              <a:gd name="csY13" fmla="*/ 18288 h 18288"/>
              <a:gd name="csX14" fmla="*/ 3615599 w 6281928"/>
              <a:gd name="csY14" fmla="*/ 18288 h 18288"/>
              <a:gd name="csX15" fmla="*/ 2980426 w 6281928"/>
              <a:gd name="csY15" fmla="*/ 18288 h 18288"/>
              <a:gd name="csX16" fmla="*/ 2156795 w 6281928"/>
              <a:gd name="csY16" fmla="*/ 18288 h 18288"/>
              <a:gd name="csX17" fmla="*/ 1584442 w 6281928"/>
              <a:gd name="csY17" fmla="*/ 18288 h 18288"/>
              <a:gd name="csX18" fmla="*/ 1074908 w 6281928"/>
              <a:gd name="csY18" fmla="*/ 18288 h 18288"/>
              <a:gd name="csX19" fmla="*/ 0 w 6281928"/>
              <a:gd name="csY19" fmla="*/ 18288 h 18288"/>
              <a:gd name="csX20" fmla="*/ 0 w 6281928"/>
              <a:gd name="csY2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6281928" h="18288" fill="none" extrusionOk="0">
                <a:moveTo>
                  <a:pt x="0" y="0"/>
                </a:moveTo>
                <a:cubicBezTo>
                  <a:pt x="205960" y="24870"/>
                  <a:pt x="343550" y="5918"/>
                  <a:pt x="572353" y="0"/>
                </a:cubicBezTo>
                <a:cubicBezTo>
                  <a:pt x="801156" y="-5918"/>
                  <a:pt x="1015649" y="-11381"/>
                  <a:pt x="1207526" y="0"/>
                </a:cubicBezTo>
                <a:cubicBezTo>
                  <a:pt x="1399403" y="11381"/>
                  <a:pt x="1549725" y="7866"/>
                  <a:pt x="1779880" y="0"/>
                </a:cubicBezTo>
                <a:cubicBezTo>
                  <a:pt x="2010035" y="-7866"/>
                  <a:pt x="2190674" y="12826"/>
                  <a:pt x="2540691" y="0"/>
                </a:cubicBezTo>
                <a:cubicBezTo>
                  <a:pt x="2890708" y="-12826"/>
                  <a:pt x="3025718" y="-18534"/>
                  <a:pt x="3238683" y="0"/>
                </a:cubicBezTo>
                <a:cubicBezTo>
                  <a:pt x="3451648" y="18534"/>
                  <a:pt x="3603947" y="14884"/>
                  <a:pt x="3936675" y="0"/>
                </a:cubicBezTo>
                <a:cubicBezTo>
                  <a:pt x="4269403" y="-14884"/>
                  <a:pt x="4480718" y="-24607"/>
                  <a:pt x="4760305" y="0"/>
                </a:cubicBezTo>
                <a:cubicBezTo>
                  <a:pt x="5039892" y="24607"/>
                  <a:pt x="5359549" y="-31311"/>
                  <a:pt x="5521117" y="0"/>
                </a:cubicBezTo>
                <a:cubicBezTo>
                  <a:pt x="5682685" y="31311"/>
                  <a:pt x="5986067" y="-12593"/>
                  <a:pt x="6281928" y="0"/>
                </a:cubicBezTo>
                <a:cubicBezTo>
                  <a:pt x="6282307" y="7355"/>
                  <a:pt x="6282212" y="10249"/>
                  <a:pt x="6281928" y="18288"/>
                </a:cubicBezTo>
                <a:cubicBezTo>
                  <a:pt x="6078981" y="8428"/>
                  <a:pt x="5961061" y="2290"/>
                  <a:pt x="5772394" y="18288"/>
                </a:cubicBezTo>
                <a:cubicBezTo>
                  <a:pt x="5583727" y="34286"/>
                  <a:pt x="5329968" y="24208"/>
                  <a:pt x="5200040" y="18288"/>
                </a:cubicBezTo>
                <a:cubicBezTo>
                  <a:pt x="5070112" y="12368"/>
                  <a:pt x="4793288" y="21070"/>
                  <a:pt x="4439229" y="18288"/>
                </a:cubicBezTo>
                <a:cubicBezTo>
                  <a:pt x="4085170" y="15506"/>
                  <a:pt x="3813765" y="-16466"/>
                  <a:pt x="3615599" y="18288"/>
                </a:cubicBezTo>
                <a:cubicBezTo>
                  <a:pt x="3417433" y="53042"/>
                  <a:pt x="3133643" y="20727"/>
                  <a:pt x="2980426" y="18288"/>
                </a:cubicBezTo>
                <a:cubicBezTo>
                  <a:pt x="2827209" y="15849"/>
                  <a:pt x="2380685" y="51850"/>
                  <a:pt x="2156795" y="18288"/>
                </a:cubicBezTo>
                <a:cubicBezTo>
                  <a:pt x="1932905" y="-15274"/>
                  <a:pt x="1716744" y="-1398"/>
                  <a:pt x="1584442" y="18288"/>
                </a:cubicBezTo>
                <a:cubicBezTo>
                  <a:pt x="1452140" y="37974"/>
                  <a:pt x="1280887" y="12750"/>
                  <a:pt x="1074908" y="18288"/>
                </a:cubicBezTo>
                <a:cubicBezTo>
                  <a:pt x="868929" y="23826"/>
                  <a:pt x="318124" y="-17878"/>
                  <a:pt x="0" y="18288"/>
                </a:cubicBezTo>
                <a:cubicBezTo>
                  <a:pt x="-384" y="12702"/>
                  <a:pt x="-513" y="4636"/>
                  <a:pt x="0" y="0"/>
                </a:cubicBezTo>
                <a:close/>
              </a:path>
              <a:path w="6281928" h="18288" stroke="0" extrusionOk="0">
                <a:moveTo>
                  <a:pt x="0" y="0"/>
                </a:moveTo>
                <a:cubicBezTo>
                  <a:pt x="135290" y="27650"/>
                  <a:pt x="488372" y="4391"/>
                  <a:pt x="635173" y="0"/>
                </a:cubicBezTo>
                <a:cubicBezTo>
                  <a:pt x="781974" y="-4391"/>
                  <a:pt x="992816" y="14310"/>
                  <a:pt x="1144707" y="0"/>
                </a:cubicBezTo>
                <a:cubicBezTo>
                  <a:pt x="1296598" y="-14310"/>
                  <a:pt x="1796462" y="-1258"/>
                  <a:pt x="1968337" y="0"/>
                </a:cubicBezTo>
                <a:cubicBezTo>
                  <a:pt x="2140212" y="1258"/>
                  <a:pt x="2343376" y="-12852"/>
                  <a:pt x="2603510" y="0"/>
                </a:cubicBezTo>
                <a:cubicBezTo>
                  <a:pt x="2863644" y="12852"/>
                  <a:pt x="2935073" y="-10591"/>
                  <a:pt x="3238683" y="0"/>
                </a:cubicBezTo>
                <a:cubicBezTo>
                  <a:pt x="3542293" y="10591"/>
                  <a:pt x="3731676" y="3538"/>
                  <a:pt x="4062313" y="0"/>
                </a:cubicBezTo>
                <a:cubicBezTo>
                  <a:pt x="4392950" y="-3538"/>
                  <a:pt x="4440715" y="28126"/>
                  <a:pt x="4634667" y="0"/>
                </a:cubicBezTo>
                <a:cubicBezTo>
                  <a:pt x="4828619" y="-28126"/>
                  <a:pt x="5052661" y="8974"/>
                  <a:pt x="5458297" y="0"/>
                </a:cubicBezTo>
                <a:cubicBezTo>
                  <a:pt x="5863933" y="-8974"/>
                  <a:pt x="5906900" y="-24516"/>
                  <a:pt x="6281928" y="0"/>
                </a:cubicBezTo>
                <a:cubicBezTo>
                  <a:pt x="6282268" y="5688"/>
                  <a:pt x="6281759" y="13142"/>
                  <a:pt x="6281928" y="18288"/>
                </a:cubicBezTo>
                <a:cubicBezTo>
                  <a:pt x="6036108" y="15339"/>
                  <a:pt x="5743611" y="10415"/>
                  <a:pt x="5583936" y="18288"/>
                </a:cubicBezTo>
                <a:cubicBezTo>
                  <a:pt x="5424261" y="26161"/>
                  <a:pt x="5250533" y="-179"/>
                  <a:pt x="4948763" y="18288"/>
                </a:cubicBezTo>
                <a:cubicBezTo>
                  <a:pt x="4646993" y="36755"/>
                  <a:pt x="4354673" y="7565"/>
                  <a:pt x="4125133" y="18288"/>
                </a:cubicBezTo>
                <a:cubicBezTo>
                  <a:pt x="3895593" y="29012"/>
                  <a:pt x="3570246" y="29209"/>
                  <a:pt x="3301502" y="18288"/>
                </a:cubicBezTo>
                <a:cubicBezTo>
                  <a:pt x="3032758" y="7367"/>
                  <a:pt x="2955340" y="11905"/>
                  <a:pt x="2729149" y="18288"/>
                </a:cubicBezTo>
                <a:cubicBezTo>
                  <a:pt x="2502958" y="24671"/>
                  <a:pt x="2269423" y="3142"/>
                  <a:pt x="2031157" y="18288"/>
                </a:cubicBezTo>
                <a:cubicBezTo>
                  <a:pt x="1792891" y="33434"/>
                  <a:pt x="1484731" y="22122"/>
                  <a:pt x="1207526" y="18288"/>
                </a:cubicBezTo>
                <a:cubicBezTo>
                  <a:pt x="930321" y="14454"/>
                  <a:pt x="560231" y="-33402"/>
                  <a:pt x="0" y="18288"/>
                </a:cubicBezTo>
                <a:cubicBezTo>
                  <a:pt x="-478" y="10520"/>
                  <a:pt x="210" y="50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5744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BD8CA0-53AD-A5C4-A5A6-830D856FB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Oswald SemiBold" panose="00000700000000000000" pitchFamily="2" charset="0"/>
              </a:rPr>
              <a:t>WHAT ARE PAGER ROTATION DUTIES?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9E9EA-E5EA-1980-D03E-8522F0B411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694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A pager rotation, also called an on-call rotation, assigns specific team members to respond when a production system has an urgent problem.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5A775641-CB9C-0F22-D821-737BB5A626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5045371"/>
              </p:ext>
            </p:extLst>
          </p:nvPr>
        </p:nvGraphicFramePr>
        <p:xfrm>
          <a:off x="1677303" y="1022922"/>
          <a:ext cx="8837394" cy="56698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A3633D5-16D9-E016-86B6-60CA4E90B1D8}"/>
              </a:ext>
            </a:extLst>
          </p:cNvPr>
          <p:cNvSpPr txBox="1"/>
          <p:nvPr/>
        </p:nvSpPr>
        <p:spPr>
          <a:xfrm>
            <a:off x="1202441" y="5005677"/>
            <a:ext cx="9784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Univers Condensed Light" panose="020B0306020202040204" pitchFamily="34" charset="0"/>
              </a:rPr>
              <a:t>In DevOps, this supports shared ownership. The team that builds a service also helps keep it reliable after deployment.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7EECAB-BCD6-11D8-ED3E-9C6F9652143F}"/>
              </a:ext>
            </a:extLst>
          </p:cNvPr>
          <p:cNvSpPr txBox="1"/>
          <p:nvPr/>
        </p:nvSpPr>
        <p:spPr>
          <a:xfrm>
            <a:off x="10247202" y="6432915"/>
            <a:ext cx="13740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PagerDuty, n.d.-a</a:t>
            </a:r>
          </a:p>
        </p:txBody>
      </p:sp>
    </p:spTree>
    <p:extLst>
      <p:ext uri="{BB962C8B-B14F-4D97-AF65-F5344CB8AC3E}">
        <p14:creationId xmlns:p14="http://schemas.microsoft.com/office/powerpoint/2010/main" val="2288651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EDC846-5299-29B9-88E5-0596B2945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BAE6F1C-CC09-F756-466E-2CF57CB75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FAF626-9113-48DF-D926-CC4834C1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500" dirty="0">
                <a:latin typeface="Oswald SemiBold" panose="00000700000000000000" pitchFamily="2" charset="0"/>
              </a:rPr>
              <a:t>WHY DOES ON-CALL FIT THE DEVOPS MODEL?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152275E2-E043-6024-AD2C-ACED9CB9A3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2248-CE5B-FC8C-8186-84090F670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5134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DevOps removes the idea that developers simply hand software to operations and walk away.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2DC28A-BFBB-B1C5-B37D-C0EE4F2194AF}"/>
              </a:ext>
            </a:extLst>
          </p:cNvPr>
          <p:cNvSpPr txBox="1"/>
          <p:nvPr/>
        </p:nvSpPr>
        <p:spPr>
          <a:xfrm>
            <a:off x="1202441" y="5005677"/>
            <a:ext cx="9784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Univers Condensed Light" panose="020B0306020202040204" pitchFamily="34" charset="0"/>
              </a:rPr>
              <a:t>That production feedback can make future releases more reliable because the people writing the software see the problems users actually experience.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17A7AF9-E6C8-DFC7-684A-9CBA086C40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98766147"/>
              </p:ext>
            </p:extLst>
          </p:nvPr>
        </p:nvGraphicFramePr>
        <p:xfrm>
          <a:off x="1591649" y="2186106"/>
          <a:ext cx="9005651" cy="29476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58E6362-4DE4-78E8-6554-2E94A34C7B17}"/>
              </a:ext>
            </a:extLst>
          </p:cNvPr>
          <p:cNvSpPr txBox="1"/>
          <p:nvPr/>
        </p:nvSpPr>
        <p:spPr>
          <a:xfrm>
            <a:off x="10247202" y="6432915"/>
            <a:ext cx="121860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Google, n.d.-a</a:t>
            </a:r>
          </a:p>
        </p:txBody>
      </p:sp>
    </p:spTree>
    <p:extLst>
      <p:ext uri="{BB962C8B-B14F-4D97-AF65-F5344CB8AC3E}">
        <p14:creationId xmlns:p14="http://schemas.microsoft.com/office/powerpoint/2010/main" val="3911774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8E834A-2942-D83F-D6CB-34BC40C84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0C8675E-A91C-56FF-ABC7-83CC872CD7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9ACDCE-F548-F222-31E2-12D1F7CB0E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>
                <a:latin typeface="Oswald SemiBold" panose="00000700000000000000" pitchFamily="2" charset="0"/>
              </a:rPr>
              <a:t>BEST PRACTICE: KEEP THE ROTATION SUSTAINABLE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AE25DFBA-D496-6058-7D50-D748C33BCF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4CD2A9-ED1C-EAF2-5C8C-4BD431EC7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694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A rotation needs to provide coverage without making the same people responsible for every night, weekend, or emergency.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2C6D3B2-52F7-AF20-E06E-ED5D55E13650}"/>
              </a:ext>
            </a:extLst>
          </p:cNvPr>
          <p:cNvSpPr txBox="1">
            <a:spLocks/>
          </p:cNvSpPr>
          <p:nvPr/>
        </p:nvSpPr>
        <p:spPr>
          <a:xfrm>
            <a:off x="1034265" y="2952786"/>
            <a:ext cx="5181600" cy="3540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Univers Condensed Light" panose="020B0306020202040204" pitchFamily="34" charset="0"/>
              </a:rPr>
              <a:t>Rotate shifts fairly across qualified team members.</a:t>
            </a:r>
          </a:p>
          <a:p>
            <a:r>
              <a:rPr lang="en-US" sz="1600" dirty="0">
                <a:latin typeface="Univers Condensed Light" panose="020B0306020202040204" pitchFamily="34" charset="0"/>
              </a:rPr>
              <a:t>Use a primary responder and a backup responder.</a:t>
            </a:r>
          </a:p>
          <a:p>
            <a:r>
              <a:rPr lang="en-US" sz="1600" dirty="0">
                <a:latin typeface="Univers Condensed Light" panose="020B0306020202040204" pitchFamily="34" charset="0"/>
              </a:rPr>
              <a:t>Make shift swaps and vacation overrides easy.</a:t>
            </a:r>
          </a:p>
          <a:p>
            <a:r>
              <a:rPr lang="en-US" sz="1600" dirty="0">
                <a:latin typeface="Univers Condensed Light" panose="020B0306020202040204" pitchFamily="34" charset="0"/>
              </a:rPr>
              <a:t>For distributed teams, use time zones to reduce overnight paging.</a:t>
            </a:r>
          </a:p>
          <a:p>
            <a:r>
              <a:rPr lang="en-US" sz="1600" dirty="0">
                <a:latin typeface="Univers Condensed Light" panose="020B0306020202040204" pitchFamily="34" charset="0"/>
              </a:rPr>
              <a:t>Adjust the rotation when alert volume becomes too heavy.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941DD55-6D04-799F-EA81-D4FA855F36D1}"/>
              </a:ext>
            </a:extLst>
          </p:cNvPr>
          <p:cNvSpPr/>
          <p:nvPr/>
        </p:nvSpPr>
        <p:spPr>
          <a:xfrm>
            <a:off x="7637083" y="2828619"/>
            <a:ext cx="2934586" cy="1065294"/>
          </a:xfrm>
          <a:custGeom>
            <a:avLst/>
            <a:gdLst>
              <a:gd name="csX0" fmla="*/ 0 w 2934586"/>
              <a:gd name="csY0" fmla="*/ 177553 h 1065294"/>
              <a:gd name="csX1" fmla="*/ 177553 w 2934586"/>
              <a:gd name="csY1" fmla="*/ 0 h 1065294"/>
              <a:gd name="csX2" fmla="*/ 745039 w 2934586"/>
              <a:gd name="csY2" fmla="*/ 0 h 1065294"/>
              <a:gd name="csX3" fmla="*/ 1389909 w 2934586"/>
              <a:gd name="csY3" fmla="*/ 0 h 1065294"/>
              <a:gd name="csX4" fmla="*/ 1957394 w 2934586"/>
              <a:gd name="csY4" fmla="*/ 0 h 1065294"/>
              <a:gd name="csX5" fmla="*/ 2757033 w 2934586"/>
              <a:gd name="csY5" fmla="*/ 0 h 1065294"/>
              <a:gd name="csX6" fmla="*/ 2934586 w 2934586"/>
              <a:gd name="csY6" fmla="*/ 177553 h 1065294"/>
              <a:gd name="csX7" fmla="*/ 2934586 w 2934586"/>
              <a:gd name="csY7" fmla="*/ 518443 h 1065294"/>
              <a:gd name="csX8" fmla="*/ 2934586 w 2934586"/>
              <a:gd name="csY8" fmla="*/ 887741 h 1065294"/>
              <a:gd name="csX9" fmla="*/ 2757033 w 2934586"/>
              <a:gd name="csY9" fmla="*/ 1065294 h 1065294"/>
              <a:gd name="csX10" fmla="*/ 2086368 w 2934586"/>
              <a:gd name="csY10" fmla="*/ 1065294 h 1065294"/>
              <a:gd name="csX11" fmla="*/ 1441498 w 2934586"/>
              <a:gd name="csY11" fmla="*/ 1065294 h 1065294"/>
              <a:gd name="csX12" fmla="*/ 745039 w 2934586"/>
              <a:gd name="csY12" fmla="*/ 1065294 h 1065294"/>
              <a:gd name="csX13" fmla="*/ 177553 w 2934586"/>
              <a:gd name="csY13" fmla="*/ 1065294 h 1065294"/>
              <a:gd name="csX14" fmla="*/ 0 w 2934586"/>
              <a:gd name="csY14" fmla="*/ 887741 h 1065294"/>
              <a:gd name="csX15" fmla="*/ 0 w 2934586"/>
              <a:gd name="csY15" fmla="*/ 525545 h 1065294"/>
              <a:gd name="csX16" fmla="*/ 0 w 2934586"/>
              <a:gd name="csY16" fmla="*/ 177553 h 1065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934586" h="1065294" fill="none" extrusionOk="0">
                <a:moveTo>
                  <a:pt x="0" y="177553"/>
                </a:moveTo>
                <a:cubicBezTo>
                  <a:pt x="5812" y="68673"/>
                  <a:pt x="70893" y="-22184"/>
                  <a:pt x="177553" y="0"/>
                </a:cubicBezTo>
                <a:cubicBezTo>
                  <a:pt x="452652" y="23573"/>
                  <a:pt x="558214" y="-2745"/>
                  <a:pt x="745039" y="0"/>
                </a:cubicBezTo>
                <a:cubicBezTo>
                  <a:pt x="931864" y="2745"/>
                  <a:pt x="1067553" y="-25383"/>
                  <a:pt x="1389909" y="0"/>
                </a:cubicBezTo>
                <a:cubicBezTo>
                  <a:pt x="1712265" y="25383"/>
                  <a:pt x="1808093" y="6047"/>
                  <a:pt x="1957394" y="0"/>
                </a:cubicBezTo>
                <a:cubicBezTo>
                  <a:pt x="2106695" y="-6047"/>
                  <a:pt x="2444973" y="-4417"/>
                  <a:pt x="2757033" y="0"/>
                </a:cubicBezTo>
                <a:cubicBezTo>
                  <a:pt x="2869956" y="3149"/>
                  <a:pt x="2940790" y="57474"/>
                  <a:pt x="2934586" y="177553"/>
                </a:cubicBezTo>
                <a:cubicBezTo>
                  <a:pt x="2927477" y="251753"/>
                  <a:pt x="2946635" y="450174"/>
                  <a:pt x="2934586" y="518443"/>
                </a:cubicBezTo>
                <a:cubicBezTo>
                  <a:pt x="2922538" y="586712"/>
                  <a:pt x="2926659" y="785642"/>
                  <a:pt x="2934586" y="887741"/>
                </a:cubicBezTo>
                <a:cubicBezTo>
                  <a:pt x="2932009" y="973365"/>
                  <a:pt x="2856153" y="1050527"/>
                  <a:pt x="2757033" y="1065294"/>
                </a:cubicBezTo>
                <a:cubicBezTo>
                  <a:pt x="2433269" y="1094303"/>
                  <a:pt x="2412566" y="1076513"/>
                  <a:pt x="2086368" y="1065294"/>
                </a:cubicBezTo>
                <a:cubicBezTo>
                  <a:pt x="1760171" y="1054075"/>
                  <a:pt x="1586336" y="1083417"/>
                  <a:pt x="1441498" y="1065294"/>
                </a:cubicBezTo>
                <a:cubicBezTo>
                  <a:pt x="1296660" y="1047172"/>
                  <a:pt x="947395" y="1064443"/>
                  <a:pt x="745039" y="1065294"/>
                </a:cubicBezTo>
                <a:cubicBezTo>
                  <a:pt x="542683" y="1066145"/>
                  <a:pt x="334078" y="1076584"/>
                  <a:pt x="177553" y="1065294"/>
                </a:cubicBezTo>
                <a:cubicBezTo>
                  <a:pt x="67549" y="1080212"/>
                  <a:pt x="12729" y="994457"/>
                  <a:pt x="0" y="887741"/>
                </a:cubicBezTo>
                <a:cubicBezTo>
                  <a:pt x="-15517" y="755877"/>
                  <a:pt x="2360" y="651699"/>
                  <a:pt x="0" y="525545"/>
                </a:cubicBezTo>
                <a:cubicBezTo>
                  <a:pt x="-2360" y="399391"/>
                  <a:pt x="-17208" y="333456"/>
                  <a:pt x="0" y="177553"/>
                </a:cubicBezTo>
                <a:close/>
              </a:path>
              <a:path w="2934586" h="1065294" stroke="0" extrusionOk="0">
                <a:moveTo>
                  <a:pt x="0" y="177553"/>
                </a:moveTo>
                <a:cubicBezTo>
                  <a:pt x="6683" y="81315"/>
                  <a:pt x="84697" y="10842"/>
                  <a:pt x="177553" y="0"/>
                </a:cubicBezTo>
                <a:cubicBezTo>
                  <a:pt x="349241" y="-16105"/>
                  <a:pt x="567526" y="26639"/>
                  <a:pt x="874013" y="0"/>
                </a:cubicBezTo>
                <a:cubicBezTo>
                  <a:pt x="1180500" y="-26639"/>
                  <a:pt x="1297871" y="4994"/>
                  <a:pt x="1441498" y="0"/>
                </a:cubicBezTo>
                <a:cubicBezTo>
                  <a:pt x="1585125" y="-4994"/>
                  <a:pt x="1895390" y="5649"/>
                  <a:pt x="2112163" y="0"/>
                </a:cubicBezTo>
                <a:cubicBezTo>
                  <a:pt x="2328937" y="-5649"/>
                  <a:pt x="2626916" y="-5439"/>
                  <a:pt x="2757033" y="0"/>
                </a:cubicBezTo>
                <a:cubicBezTo>
                  <a:pt x="2833988" y="-3454"/>
                  <a:pt x="2933053" y="73266"/>
                  <a:pt x="2934586" y="177553"/>
                </a:cubicBezTo>
                <a:cubicBezTo>
                  <a:pt x="2925269" y="287048"/>
                  <a:pt x="2925981" y="405960"/>
                  <a:pt x="2934586" y="518443"/>
                </a:cubicBezTo>
                <a:cubicBezTo>
                  <a:pt x="2943192" y="630926"/>
                  <a:pt x="2918962" y="789651"/>
                  <a:pt x="2934586" y="887741"/>
                </a:cubicBezTo>
                <a:cubicBezTo>
                  <a:pt x="2915850" y="992751"/>
                  <a:pt x="2855346" y="1072153"/>
                  <a:pt x="2757033" y="1065294"/>
                </a:cubicBezTo>
                <a:cubicBezTo>
                  <a:pt x="2634241" y="1068438"/>
                  <a:pt x="2348434" y="1045442"/>
                  <a:pt x="2189547" y="1065294"/>
                </a:cubicBezTo>
                <a:cubicBezTo>
                  <a:pt x="2030660" y="1085146"/>
                  <a:pt x="1732722" y="1097149"/>
                  <a:pt x="1493088" y="1065294"/>
                </a:cubicBezTo>
                <a:cubicBezTo>
                  <a:pt x="1253454" y="1033439"/>
                  <a:pt x="1150606" y="1085541"/>
                  <a:pt x="874013" y="1065294"/>
                </a:cubicBezTo>
                <a:cubicBezTo>
                  <a:pt x="597421" y="1045047"/>
                  <a:pt x="406437" y="1054924"/>
                  <a:pt x="177553" y="1065294"/>
                </a:cubicBezTo>
                <a:cubicBezTo>
                  <a:pt x="83407" y="1045430"/>
                  <a:pt x="-3498" y="981880"/>
                  <a:pt x="0" y="887741"/>
                </a:cubicBezTo>
                <a:cubicBezTo>
                  <a:pt x="11423" y="761126"/>
                  <a:pt x="-15523" y="639418"/>
                  <a:pt x="0" y="518443"/>
                </a:cubicBezTo>
                <a:cubicBezTo>
                  <a:pt x="15523" y="397468"/>
                  <a:pt x="4667" y="266412"/>
                  <a:pt x="0" y="177553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swald SemiBold" panose="00000700000000000000" pitchFamily="2" charset="0"/>
              </a:rPr>
              <a:t>PRIMARY</a:t>
            </a:r>
          </a:p>
          <a:p>
            <a:pPr algn="ctr"/>
            <a:r>
              <a:rPr lang="en-US" sz="1200" dirty="0">
                <a:latin typeface="Univers Condensed Light" panose="020B0306020202040204" pitchFamily="34" charset="0"/>
              </a:rPr>
              <a:t>First person responsible for the incident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CCC81F2-35F3-4FD3-A437-A37F6975B89C}"/>
              </a:ext>
            </a:extLst>
          </p:cNvPr>
          <p:cNvSpPr/>
          <p:nvPr/>
        </p:nvSpPr>
        <p:spPr>
          <a:xfrm>
            <a:off x="7637083" y="3930667"/>
            <a:ext cx="2934586" cy="1065294"/>
          </a:xfrm>
          <a:custGeom>
            <a:avLst/>
            <a:gdLst>
              <a:gd name="csX0" fmla="*/ 0 w 2934586"/>
              <a:gd name="csY0" fmla="*/ 177553 h 1065294"/>
              <a:gd name="csX1" fmla="*/ 177553 w 2934586"/>
              <a:gd name="csY1" fmla="*/ 0 h 1065294"/>
              <a:gd name="csX2" fmla="*/ 745039 w 2934586"/>
              <a:gd name="csY2" fmla="*/ 0 h 1065294"/>
              <a:gd name="csX3" fmla="*/ 1389909 w 2934586"/>
              <a:gd name="csY3" fmla="*/ 0 h 1065294"/>
              <a:gd name="csX4" fmla="*/ 1957394 w 2934586"/>
              <a:gd name="csY4" fmla="*/ 0 h 1065294"/>
              <a:gd name="csX5" fmla="*/ 2757033 w 2934586"/>
              <a:gd name="csY5" fmla="*/ 0 h 1065294"/>
              <a:gd name="csX6" fmla="*/ 2934586 w 2934586"/>
              <a:gd name="csY6" fmla="*/ 177553 h 1065294"/>
              <a:gd name="csX7" fmla="*/ 2934586 w 2934586"/>
              <a:gd name="csY7" fmla="*/ 518443 h 1065294"/>
              <a:gd name="csX8" fmla="*/ 2934586 w 2934586"/>
              <a:gd name="csY8" fmla="*/ 887741 h 1065294"/>
              <a:gd name="csX9" fmla="*/ 2757033 w 2934586"/>
              <a:gd name="csY9" fmla="*/ 1065294 h 1065294"/>
              <a:gd name="csX10" fmla="*/ 2086368 w 2934586"/>
              <a:gd name="csY10" fmla="*/ 1065294 h 1065294"/>
              <a:gd name="csX11" fmla="*/ 1441498 w 2934586"/>
              <a:gd name="csY11" fmla="*/ 1065294 h 1065294"/>
              <a:gd name="csX12" fmla="*/ 745039 w 2934586"/>
              <a:gd name="csY12" fmla="*/ 1065294 h 1065294"/>
              <a:gd name="csX13" fmla="*/ 177553 w 2934586"/>
              <a:gd name="csY13" fmla="*/ 1065294 h 1065294"/>
              <a:gd name="csX14" fmla="*/ 0 w 2934586"/>
              <a:gd name="csY14" fmla="*/ 887741 h 1065294"/>
              <a:gd name="csX15" fmla="*/ 0 w 2934586"/>
              <a:gd name="csY15" fmla="*/ 525545 h 1065294"/>
              <a:gd name="csX16" fmla="*/ 0 w 2934586"/>
              <a:gd name="csY16" fmla="*/ 177553 h 10652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934586" h="1065294" fill="none" extrusionOk="0">
                <a:moveTo>
                  <a:pt x="0" y="177553"/>
                </a:moveTo>
                <a:cubicBezTo>
                  <a:pt x="5812" y="68673"/>
                  <a:pt x="70893" y="-22184"/>
                  <a:pt x="177553" y="0"/>
                </a:cubicBezTo>
                <a:cubicBezTo>
                  <a:pt x="452652" y="23573"/>
                  <a:pt x="558214" y="-2745"/>
                  <a:pt x="745039" y="0"/>
                </a:cubicBezTo>
                <a:cubicBezTo>
                  <a:pt x="931864" y="2745"/>
                  <a:pt x="1067553" y="-25383"/>
                  <a:pt x="1389909" y="0"/>
                </a:cubicBezTo>
                <a:cubicBezTo>
                  <a:pt x="1712265" y="25383"/>
                  <a:pt x="1808093" y="6047"/>
                  <a:pt x="1957394" y="0"/>
                </a:cubicBezTo>
                <a:cubicBezTo>
                  <a:pt x="2106695" y="-6047"/>
                  <a:pt x="2444973" y="-4417"/>
                  <a:pt x="2757033" y="0"/>
                </a:cubicBezTo>
                <a:cubicBezTo>
                  <a:pt x="2869956" y="3149"/>
                  <a:pt x="2940790" y="57474"/>
                  <a:pt x="2934586" y="177553"/>
                </a:cubicBezTo>
                <a:cubicBezTo>
                  <a:pt x="2927477" y="251753"/>
                  <a:pt x="2946635" y="450174"/>
                  <a:pt x="2934586" y="518443"/>
                </a:cubicBezTo>
                <a:cubicBezTo>
                  <a:pt x="2922538" y="586712"/>
                  <a:pt x="2926659" y="785642"/>
                  <a:pt x="2934586" y="887741"/>
                </a:cubicBezTo>
                <a:cubicBezTo>
                  <a:pt x="2932009" y="973365"/>
                  <a:pt x="2856153" y="1050527"/>
                  <a:pt x="2757033" y="1065294"/>
                </a:cubicBezTo>
                <a:cubicBezTo>
                  <a:pt x="2433269" y="1094303"/>
                  <a:pt x="2412566" y="1076513"/>
                  <a:pt x="2086368" y="1065294"/>
                </a:cubicBezTo>
                <a:cubicBezTo>
                  <a:pt x="1760171" y="1054075"/>
                  <a:pt x="1586336" y="1083417"/>
                  <a:pt x="1441498" y="1065294"/>
                </a:cubicBezTo>
                <a:cubicBezTo>
                  <a:pt x="1296660" y="1047172"/>
                  <a:pt x="947395" y="1064443"/>
                  <a:pt x="745039" y="1065294"/>
                </a:cubicBezTo>
                <a:cubicBezTo>
                  <a:pt x="542683" y="1066145"/>
                  <a:pt x="334078" y="1076584"/>
                  <a:pt x="177553" y="1065294"/>
                </a:cubicBezTo>
                <a:cubicBezTo>
                  <a:pt x="67549" y="1080212"/>
                  <a:pt x="12729" y="994457"/>
                  <a:pt x="0" y="887741"/>
                </a:cubicBezTo>
                <a:cubicBezTo>
                  <a:pt x="-15517" y="755877"/>
                  <a:pt x="2360" y="651699"/>
                  <a:pt x="0" y="525545"/>
                </a:cubicBezTo>
                <a:cubicBezTo>
                  <a:pt x="-2360" y="399391"/>
                  <a:pt x="-17208" y="333456"/>
                  <a:pt x="0" y="177553"/>
                </a:cubicBezTo>
                <a:close/>
              </a:path>
              <a:path w="2934586" h="1065294" stroke="0" extrusionOk="0">
                <a:moveTo>
                  <a:pt x="0" y="177553"/>
                </a:moveTo>
                <a:cubicBezTo>
                  <a:pt x="6683" y="81315"/>
                  <a:pt x="84697" y="10842"/>
                  <a:pt x="177553" y="0"/>
                </a:cubicBezTo>
                <a:cubicBezTo>
                  <a:pt x="349241" y="-16105"/>
                  <a:pt x="567526" y="26639"/>
                  <a:pt x="874013" y="0"/>
                </a:cubicBezTo>
                <a:cubicBezTo>
                  <a:pt x="1180500" y="-26639"/>
                  <a:pt x="1297871" y="4994"/>
                  <a:pt x="1441498" y="0"/>
                </a:cubicBezTo>
                <a:cubicBezTo>
                  <a:pt x="1585125" y="-4994"/>
                  <a:pt x="1895390" y="5649"/>
                  <a:pt x="2112163" y="0"/>
                </a:cubicBezTo>
                <a:cubicBezTo>
                  <a:pt x="2328937" y="-5649"/>
                  <a:pt x="2626916" y="-5439"/>
                  <a:pt x="2757033" y="0"/>
                </a:cubicBezTo>
                <a:cubicBezTo>
                  <a:pt x="2833988" y="-3454"/>
                  <a:pt x="2933053" y="73266"/>
                  <a:pt x="2934586" y="177553"/>
                </a:cubicBezTo>
                <a:cubicBezTo>
                  <a:pt x="2925269" y="287048"/>
                  <a:pt x="2925981" y="405960"/>
                  <a:pt x="2934586" y="518443"/>
                </a:cubicBezTo>
                <a:cubicBezTo>
                  <a:pt x="2943192" y="630926"/>
                  <a:pt x="2918962" y="789651"/>
                  <a:pt x="2934586" y="887741"/>
                </a:cubicBezTo>
                <a:cubicBezTo>
                  <a:pt x="2915850" y="992751"/>
                  <a:pt x="2855346" y="1072153"/>
                  <a:pt x="2757033" y="1065294"/>
                </a:cubicBezTo>
                <a:cubicBezTo>
                  <a:pt x="2634241" y="1068438"/>
                  <a:pt x="2348434" y="1045442"/>
                  <a:pt x="2189547" y="1065294"/>
                </a:cubicBezTo>
                <a:cubicBezTo>
                  <a:pt x="2030660" y="1085146"/>
                  <a:pt x="1732722" y="1097149"/>
                  <a:pt x="1493088" y="1065294"/>
                </a:cubicBezTo>
                <a:cubicBezTo>
                  <a:pt x="1253454" y="1033439"/>
                  <a:pt x="1150606" y="1085541"/>
                  <a:pt x="874013" y="1065294"/>
                </a:cubicBezTo>
                <a:cubicBezTo>
                  <a:pt x="597421" y="1045047"/>
                  <a:pt x="406437" y="1054924"/>
                  <a:pt x="177553" y="1065294"/>
                </a:cubicBezTo>
                <a:cubicBezTo>
                  <a:pt x="83407" y="1045430"/>
                  <a:pt x="-3498" y="981880"/>
                  <a:pt x="0" y="887741"/>
                </a:cubicBezTo>
                <a:cubicBezTo>
                  <a:pt x="11423" y="761126"/>
                  <a:pt x="-15523" y="639418"/>
                  <a:pt x="0" y="518443"/>
                </a:cubicBezTo>
                <a:cubicBezTo>
                  <a:pt x="15523" y="397468"/>
                  <a:pt x="4667" y="266412"/>
                  <a:pt x="0" y="177553"/>
                </a:cubicBezTo>
                <a:close/>
              </a:path>
            </a:pathLst>
          </a:custGeom>
          <a:ln>
            <a:extLst>
              <a:ext uri="{C807C97D-BFC1-408E-A445-0C87EB9F89A2}">
                <ask:lineSketchStyleProps xmlns:ask="http://schemas.microsoft.com/office/drawing/2018/sketchyshapes" sd="852854689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Oswald SemiBold" panose="00000700000000000000" pitchFamily="2" charset="0"/>
              </a:rPr>
              <a:t>SECONDARY</a:t>
            </a:r>
          </a:p>
          <a:p>
            <a:pPr algn="ctr"/>
            <a:r>
              <a:rPr lang="en-US" sz="1200" dirty="0">
                <a:latin typeface="Univers Condensed Light" panose="020B0306020202040204" pitchFamily="34" charset="0"/>
              </a:rPr>
              <a:t>Backup if the primary misses the alert or needs help.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1683E7D-8CA4-9DE4-A7A4-CE1D4B0D012A}"/>
              </a:ext>
            </a:extLst>
          </p:cNvPr>
          <p:cNvSpPr txBox="1"/>
          <p:nvPr/>
        </p:nvSpPr>
        <p:spPr>
          <a:xfrm>
            <a:off x="7598097" y="5106208"/>
            <a:ext cx="3012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latin typeface="Univers Condensed Light" panose="020B0306020202040204" pitchFamily="34" charset="0"/>
              </a:rPr>
              <a:t>Fair coverage + predictable schedules = better off-call 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BD1237-DB55-98B3-8A5F-4CF51A94BAC3}"/>
              </a:ext>
            </a:extLst>
          </p:cNvPr>
          <p:cNvSpPr txBox="1"/>
          <p:nvPr/>
        </p:nvSpPr>
        <p:spPr>
          <a:xfrm>
            <a:off x="9695968" y="6439400"/>
            <a:ext cx="21980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Atlassian, n.d.-a; PagerDuty, n.d.-a</a:t>
            </a:r>
          </a:p>
        </p:txBody>
      </p:sp>
    </p:spTree>
    <p:extLst>
      <p:ext uri="{BB962C8B-B14F-4D97-AF65-F5344CB8AC3E}">
        <p14:creationId xmlns:p14="http://schemas.microsoft.com/office/powerpoint/2010/main" val="1132465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461DF8-5250-E75A-4169-A41291E1A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90B9B35-F1FC-8DC8-0625-BBAAA3C4F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94B97F-FA81-4A48-608D-521DFFF29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7" y="365125"/>
            <a:ext cx="1102309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Oswald SemiBold" panose="00000700000000000000" pitchFamily="2" charset="0"/>
              </a:rPr>
              <a:t>BEST PRACTICE: PAGE ONLY WHEN ACTION IS NEEDED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C5F0B31-62D3-7609-62E0-B1CDA2B05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A256A-6C67-C3E9-B2FD-EA670513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694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If everything becomes an emergency, the pager stops being useful.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3F6461-2DC4-6B51-ACAF-C8C5D7AB6107}"/>
              </a:ext>
            </a:extLst>
          </p:cNvPr>
          <p:cNvSpPr txBox="1"/>
          <p:nvPr/>
        </p:nvSpPr>
        <p:spPr>
          <a:xfrm>
            <a:off x="1202441" y="5005677"/>
            <a:ext cx="9784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Univers Condensed Light" panose="020B0306020202040204" pitchFamily="34" charset="0"/>
              </a:rPr>
              <a:t>Too many unnecessary alerts can create alert fatigue. Teams should regularly review noisy pages and improve, automate, downgrade, or remove them.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5BF55D-0B87-9ED7-0FF7-3914FD048D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8905559"/>
              </p:ext>
            </p:extLst>
          </p:nvPr>
        </p:nvGraphicFramePr>
        <p:xfrm>
          <a:off x="2128516" y="2055813"/>
          <a:ext cx="8104131" cy="3209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515E406-2FF6-078D-84BE-F2015919F981}"/>
              </a:ext>
            </a:extLst>
          </p:cNvPr>
          <p:cNvSpPr txBox="1"/>
          <p:nvPr/>
        </p:nvSpPr>
        <p:spPr>
          <a:xfrm>
            <a:off x="9968442" y="6432915"/>
            <a:ext cx="203613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Google, n.d.-a; Atlassian, n.d.-b</a:t>
            </a:r>
          </a:p>
        </p:txBody>
      </p:sp>
    </p:spTree>
    <p:extLst>
      <p:ext uri="{BB962C8B-B14F-4D97-AF65-F5344CB8AC3E}">
        <p14:creationId xmlns:p14="http://schemas.microsoft.com/office/powerpoint/2010/main" val="4112858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D9090A-A101-0B97-D096-0F25046AD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1D12992-A875-C755-B7F1-549C12371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85EB33-A4A9-17BD-5CDA-516CD3079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7" y="365125"/>
            <a:ext cx="11023090" cy="1325563"/>
          </a:xfrm>
        </p:spPr>
        <p:txBody>
          <a:bodyPr>
            <a:normAutofit/>
          </a:bodyPr>
          <a:lstStyle/>
          <a:p>
            <a:r>
              <a:rPr lang="en-US" sz="4000" dirty="0">
                <a:latin typeface="Oswald SemiBold" panose="00000700000000000000" pitchFamily="2" charset="0"/>
              </a:rPr>
              <a:t>BEST PRACTICE: HAVE A CLEAR ESCALATION PLAN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BF4B5E62-8BD2-2599-8F39-D716606E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227C54-86D8-B382-FFB8-3C44F9091F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694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The person on call should not have to figure out who to contact while an outage is already happening.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FDA923-DDE3-AE5D-AE96-5F0B151F8461}"/>
              </a:ext>
            </a:extLst>
          </p:cNvPr>
          <p:cNvSpPr txBox="1"/>
          <p:nvPr/>
        </p:nvSpPr>
        <p:spPr>
          <a:xfrm>
            <a:off x="1202441" y="5005677"/>
            <a:ext cx="978406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Univers Condensed Light" panose="020B0306020202040204" pitchFamily="34" charset="0"/>
              </a:rPr>
              <a:t>Runbooks should include common symptoms, troubleshooting steps, rollback instructions, and important contacts. Shift handoffs should also explain any unresolved incidents or temporary fixes.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1CE87E1-E8CB-95AF-3924-98834E8B392A}"/>
              </a:ext>
            </a:extLst>
          </p:cNvPr>
          <p:cNvGrpSpPr/>
          <p:nvPr/>
        </p:nvGrpSpPr>
        <p:grpSpPr>
          <a:xfrm>
            <a:off x="1710997" y="3949223"/>
            <a:ext cx="2475529" cy="900000"/>
            <a:chOff x="356313" y="1758629"/>
            <a:chExt cx="2475529" cy="900000"/>
          </a:xfrm>
        </p:grpSpPr>
        <p:sp>
          <p:nvSpPr>
            <p:cNvPr id="9" name="Rectangle 4">
              <a:extLst>
                <a:ext uri="{FF2B5EF4-FFF2-40B4-BE49-F238E27FC236}">
                  <a16:creationId xmlns:a16="http://schemas.microsoft.com/office/drawing/2014/main" id="{ADAE3B1D-322C-B44F-06C5-BD83D58FFB38}"/>
                </a:ext>
              </a:extLst>
            </p:cNvPr>
            <p:cNvSpPr/>
            <p:nvPr/>
          </p:nvSpPr>
          <p:spPr>
            <a:xfrm>
              <a:off x="356313" y="1758629"/>
              <a:ext cx="2475529" cy="900000"/>
            </a:xfr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422AAAC-D722-131A-BAFB-09488C41C80F}"/>
                </a:ext>
              </a:extLst>
            </p:cNvPr>
            <p:cNvSpPr txBox="1"/>
            <p:nvPr/>
          </p:nvSpPr>
          <p:spPr>
            <a:xfrm>
              <a:off x="356313" y="1758629"/>
              <a:ext cx="2475529" cy="90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Oswald SemiBold" panose="00000700000000000000" pitchFamily="2" charset="0"/>
                </a:rPr>
                <a:t>PRIMARY RESPONDER</a:t>
              </a:r>
            </a:p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>
                  <a:latin typeface="Univers Condensed Light" panose="020B0306020202040204" pitchFamily="34" charset="0"/>
                </a:rPr>
                <a:t>Acknowledges and investigates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0668BC5-BD54-E3D8-038E-F5424E5CD264}"/>
              </a:ext>
            </a:extLst>
          </p:cNvPr>
          <p:cNvGrpSpPr/>
          <p:nvPr/>
        </p:nvGrpSpPr>
        <p:grpSpPr>
          <a:xfrm>
            <a:off x="4858236" y="3949223"/>
            <a:ext cx="2605820" cy="900000"/>
            <a:chOff x="356313" y="1758629"/>
            <a:chExt cx="2475529" cy="900000"/>
          </a:xfrm>
        </p:grpSpPr>
        <p:sp>
          <p:nvSpPr>
            <p:cNvPr id="14" name="Rectangle 4">
              <a:extLst>
                <a:ext uri="{FF2B5EF4-FFF2-40B4-BE49-F238E27FC236}">
                  <a16:creationId xmlns:a16="http://schemas.microsoft.com/office/drawing/2014/main" id="{43251535-ED39-293F-7DBD-97542C661969}"/>
                </a:ext>
              </a:extLst>
            </p:cNvPr>
            <p:cNvSpPr/>
            <p:nvPr/>
          </p:nvSpPr>
          <p:spPr>
            <a:xfrm>
              <a:off x="356313" y="1758629"/>
              <a:ext cx="2475529" cy="900000"/>
            </a:xfr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BAFAD90-92D3-A97C-0C20-E4248A60CB96}"/>
                </a:ext>
              </a:extLst>
            </p:cNvPr>
            <p:cNvSpPr txBox="1"/>
            <p:nvPr/>
          </p:nvSpPr>
          <p:spPr>
            <a:xfrm>
              <a:off x="356313" y="1758629"/>
              <a:ext cx="2475529" cy="90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Oswald SemiBold" panose="00000700000000000000" pitchFamily="2" charset="0"/>
                </a:rPr>
                <a:t>SECONDARY RESPONDER</a:t>
              </a:r>
            </a:p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>
                  <a:latin typeface="Univers Condensed Light" panose="020B0306020202040204" pitchFamily="34" charset="0"/>
                </a:rPr>
                <a:t>Steps in if the alert is missed or extra help is needed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162169E-14D7-FE03-40CA-70D83C0608D0}"/>
              </a:ext>
            </a:extLst>
          </p:cNvPr>
          <p:cNvGrpSpPr/>
          <p:nvPr/>
        </p:nvGrpSpPr>
        <p:grpSpPr>
          <a:xfrm>
            <a:off x="8005475" y="3949223"/>
            <a:ext cx="2475529" cy="900000"/>
            <a:chOff x="356313" y="1758629"/>
            <a:chExt cx="2475529" cy="900000"/>
          </a:xfrm>
        </p:grpSpPr>
        <p:sp>
          <p:nvSpPr>
            <p:cNvPr id="20" name="Rectangle 4">
              <a:extLst>
                <a:ext uri="{FF2B5EF4-FFF2-40B4-BE49-F238E27FC236}">
                  <a16:creationId xmlns:a16="http://schemas.microsoft.com/office/drawing/2014/main" id="{136D504A-B4AB-66D7-6450-DE29D6333E67}"/>
                </a:ext>
              </a:extLst>
            </p:cNvPr>
            <p:cNvSpPr/>
            <p:nvPr/>
          </p:nvSpPr>
          <p:spPr>
            <a:xfrm>
              <a:off x="356313" y="1758629"/>
              <a:ext cx="2475529" cy="900000"/>
            </a:xfr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B88EFF4-DA93-7C88-E3AF-CCBC2512654D}"/>
                </a:ext>
              </a:extLst>
            </p:cNvPr>
            <p:cNvSpPr txBox="1"/>
            <p:nvPr/>
          </p:nvSpPr>
          <p:spPr>
            <a:xfrm>
              <a:off x="356313" y="1758629"/>
              <a:ext cx="2475529" cy="9000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0" tIns="0" rIns="0" bIns="0" numCol="1" spcCol="1270" anchor="t" anchorCtr="0">
              <a:noAutofit/>
            </a:bodyPr>
            <a:lstStyle/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2000" kern="1200" dirty="0">
                  <a:latin typeface="Oswald SemiBold" panose="00000700000000000000" pitchFamily="2" charset="0"/>
                </a:rPr>
                <a:t>TEAM/MANAGER</a:t>
              </a:r>
            </a:p>
            <a:p>
              <a:pPr marL="0" lvl="0" indent="0" algn="ctr" defTabSz="889000">
                <a:lnSpc>
                  <a:spcPct val="10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200" kern="1200" dirty="0">
                  <a:latin typeface="Univers Condensed Light" panose="020B0306020202040204" pitchFamily="34" charset="0"/>
                </a:rPr>
                <a:t>Handles incidents that need broader support</a:t>
              </a:r>
            </a:p>
          </p:txBody>
        </p:sp>
      </p:grpSp>
      <p:pic>
        <p:nvPicPr>
          <p:cNvPr id="23" name="Graphic 22" descr="Female Profile with solid fill">
            <a:extLst>
              <a:ext uri="{FF2B5EF4-FFF2-40B4-BE49-F238E27FC236}">
                <a16:creationId xmlns:a16="http://schemas.microsoft.com/office/drawing/2014/main" id="{AB374728-EFEF-AE90-C54A-CB28E0D8A4C7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alphaModFix amt="66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491561" y="2698825"/>
            <a:ext cx="914400" cy="914400"/>
          </a:xfrm>
          <a:prstGeom prst="rect">
            <a:avLst/>
          </a:prstGeom>
        </p:spPr>
      </p:pic>
      <p:pic>
        <p:nvPicPr>
          <p:cNvPr id="25" name="Graphic 24" descr="Male profile with solid fill">
            <a:extLst>
              <a:ext uri="{FF2B5EF4-FFF2-40B4-BE49-F238E27FC236}">
                <a16:creationId xmlns:a16="http://schemas.microsoft.com/office/drawing/2014/main" id="{AAE47EA4-6A8C-19C7-11FD-A8D031B4F362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alphaModFix amt="66000"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37275" y="2747696"/>
            <a:ext cx="914400" cy="914400"/>
          </a:xfrm>
          <a:prstGeom prst="rect">
            <a:avLst/>
          </a:prstGeom>
        </p:spPr>
      </p:pic>
      <p:pic>
        <p:nvPicPr>
          <p:cNvPr id="27" name="Graphic 26" descr="Users with solid fill">
            <a:extLst>
              <a:ext uri="{FF2B5EF4-FFF2-40B4-BE49-F238E27FC236}">
                <a16:creationId xmlns:a16="http://schemas.microsoft.com/office/drawing/2014/main" id="{974D9B2E-5B57-FCE5-E832-9CB7E05E7F31}"/>
              </a:ext>
            </a:extLst>
          </p:cNvPr>
          <p:cNvPicPr>
            <a:picLocks noChangeAspect="1"/>
          </p:cNvPicPr>
          <p:nvPr/>
        </p:nvPicPr>
        <p:blipFill>
          <a:blip>
            <a:duotone>
              <a:schemeClr val="accent2">
                <a:shade val="45000"/>
                <a:satMod val="135000"/>
              </a:schemeClr>
              <a:prstClr val="white"/>
            </a:duotone>
            <a:alphaModFix amt="6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86039" y="2747696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21A215C-2587-DEE1-12E9-24FBFDFC3DF8}"/>
              </a:ext>
            </a:extLst>
          </p:cNvPr>
          <p:cNvSpPr txBox="1"/>
          <p:nvPr/>
        </p:nvSpPr>
        <p:spPr>
          <a:xfrm>
            <a:off x="9700439" y="6419944"/>
            <a:ext cx="219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PagerDuty, 2026; PagerDuty, n.d.-b</a:t>
            </a:r>
          </a:p>
        </p:txBody>
      </p:sp>
    </p:spTree>
    <p:extLst>
      <p:ext uri="{BB962C8B-B14F-4D97-AF65-F5344CB8AC3E}">
        <p14:creationId xmlns:p14="http://schemas.microsoft.com/office/powerpoint/2010/main" val="790619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9CBA77-F43A-7580-71C9-92B4ABB6E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4B6AB00-F929-EA21-7786-719F210464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F5B67-9E36-0C24-1AD0-925C9A4C3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7" y="365125"/>
            <a:ext cx="1102309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Oswald SemiBold" panose="00000700000000000000" pitchFamily="2" charset="0"/>
              </a:rPr>
              <a:t>THE ROTATION HAS TO WORK FOR PEOPLE TOO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540DC73-B991-1B2A-BA02-6843959BC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0B13D-F797-E059-F39B-55A11AFE6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76944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200" dirty="0">
                <a:latin typeface="Univers Condensed Light" panose="020B0306020202040204" pitchFamily="34" charset="0"/>
              </a:rPr>
              <a:t>Good incident coverage is important, but an exhausted team is not a reliable system.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B76A30-E14C-7D08-5316-EBC7D7D49B23}"/>
              </a:ext>
            </a:extLst>
          </p:cNvPr>
          <p:cNvSpPr txBox="1"/>
          <p:nvPr/>
        </p:nvSpPr>
        <p:spPr>
          <a:xfrm>
            <a:off x="1202441" y="5005677"/>
            <a:ext cx="978406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200" dirty="0">
                <a:latin typeface="Univers Condensed Light" panose="020B0306020202040204" pitchFamily="34" charset="0"/>
              </a:rPr>
              <a:t>The goal is to learn from incidents and reduce future pager load; not normalize constant interruptions.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81CB502-8DF0-B24C-2A38-4CA3295DA1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0022959"/>
              </p:ext>
            </p:extLst>
          </p:nvPr>
        </p:nvGraphicFramePr>
        <p:xfrm>
          <a:off x="2128516" y="2055813"/>
          <a:ext cx="8104131" cy="3209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BE791156-6392-535E-A11F-0B80378DA620}"/>
              </a:ext>
            </a:extLst>
          </p:cNvPr>
          <p:cNvSpPr txBox="1"/>
          <p:nvPr/>
        </p:nvSpPr>
        <p:spPr>
          <a:xfrm>
            <a:off x="9715423" y="6419945"/>
            <a:ext cx="20425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Google, n.d.-b; Atlassian, n-d.-a</a:t>
            </a:r>
          </a:p>
        </p:txBody>
      </p:sp>
    </p:spTree>
    <p:extLst>
      <p:ext uri="{BB962C8B-B14F-4D97-AF65-F5344CB8AC3E}">
        <p14:creationId xmlns:p14="http://schemas.microsoft.com/office/powerpoint/2010/main" val="19032914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761715-A3D4-C6FF-7B1D-780F3C51F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5CFADCF-4197-BF56-37F6-971C8893DC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89D1A-2A9F-4D85-12BC-CDE1F929C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7" y="365125"/>
            <a:ext cx="11023090" cy="1325563"/>
          </a:xfrm>
        </p:spPr>
        <p:txBody>
          <a:bodyPr>
            <a:normAutofit/>
          </a:bodyPr>
          <a:lstStyle/>
          <a:p>
            <a:r>
              <a:rPr lang="en-US" dirty="0">
                <a:latin typeface="Oswald SemiBold" panose="00000700000000000000" pitchFamily="2" charset="0"/>
              </a:rPr>
              <a:t>FROM A BAD ROTATION TO A HEALTHY ROTATION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EE38EE58-51AE-01E8-64E3-8D4E3BC1B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0094752-6817-3AED-8960-2F223C1DCFD7}"/>
              </a:ext>
            </a:extLst>
          </p:cNvPr>
          <p:cNvGrpSpPr/>
          <p:nvPr/>
        </p:nvGrpSpPr>
        <p:grpSpPr>
          <a:xfrm>
            <a:off x="1277360" y="1975224"/>
            <a:ext cx="9637281" cy="3388242"/>
            <a:chOff x="1077433" y="1975224"/>
            <a:chExt cx="9637281" cy="3388242"/>
          </a:xfrm>
        </p:grpSpPr>
        <p:sp>
          <p:nvSpPr>
            <p:cNvPr id="58" name="Content Placeholder 2">
              <a:extLst>
                <a:ext uri="{FF2B5EF4-FFF2-40B4-BE49-F238E27FC236}">
                  <a16:creationId xmlns:a16="http://schemas.microsoft.com/office/drawing/2014/main" id="{2A07D725-19C0-78F0-F455-5C75B1F8485B}"/>
                </a:ext>
              </a:extLst>
            </p:cNvPr>
            <p:cNvSpPr txBox="1">
              <a:spLocks/>
            </p:cNvSpPr>
            <p:nvPr/>
          </p:nvSpPr>
          <p:spPr>
            <a:xfrm>
              <a:off x="1077433" y="2745323"/>
              <a:ext cx="4756935" cy="2618143"/>
            </a:xfrm>
            <a:custGeom>
              <a:avLst/>
              <a:gdLst>
                <a:gd name="csX0" fmla="*/ 0 w 4756935"/>
                <a:gd name="csY0" fmla="*/ 0 h 2618143"/>
                <a:gd name="csX1" fmla="*/ 679562 w 4756935"/>
                <a:gd name="csY1" fmla="*/ 0 h 2618143"/>
                <a:gd name="csX2" fmla="*/ 1406694 w 4756935"/>
                <a:gd name="csY2" fmla="*/ 0 h 2618143"/>
                <a:gd name="csX3" fmla="*/ 2038686 w 4756935"/>
                <a:gd name="csY3" fmla="*/ 0 h 2618143"/>
                <a:gd name="csX4" fmla="*/ 2765818 w 4756935"/>
                <a:gd name="csY4" fmla="*/ 0 h 2618143"/>
                <a:gd name="csX5" fmla="*/ 3492949 w 4756935"/>
                <a:gd name="csY5" fmla="*/ 0 h 2618143"/>
                <a:gd name="csX6" fmla="*/ 4172512 w 4756935"/>
                <a:gd name="csY6" fmla="*/ 0 h 2618143"/>
                <a:gd name="csX7" fmla="*/ 4756935 w 4756935"/>
                <a:gd name="csY7" fmla="*/ 0 h 2618143"/>
                <a:gd name="csX8" fmla="*/ 4756935 w 4756935"/>
                <a:gd name="csY8" fmla="*/ 628354 h 2618143"/>
                <a:gd name="csX9" fmla="*/ 4756935 w 4756935"/>
                <a:gd name="csY9" fmla="*/ 1256709 h 2618143"/>
                <a:gd name="csX10" fmla="*/ 4756935 w 4756935"/>
                <a:gd name="csY10" fmla="*/ 1858882 h 2618143"/>
                <a:gd name="csX11" fmla="*/ 4756935 w 4756935"/>
                <a:gd name="csY11" fmla="*/ 2618143 h 2618143"/>
                <a:gd name="csX12" fmla="*/ 4029804 w 4756935"/>
                <a:gd name="csY12" fmla="*/ 2618143 h 2618143"/>
                <a:gd name="csX13" fmla="*/ 3255103 w 4756935"/>
                <a:gd name="csY13" fmla="*/ 2618143 h 2618143"/>
                <a:gd name="csX14" fmla="*/ 2623110 w 4756935"/>
                <a:gd name="csY14" fmla="*/ 2618143 h 2618143"/>
                <a:gd name="csX15" fmla="*/ 1895978 w 4756935"/>
                <a:gd name="csY15" fmla="*/ 2618143 h 2618143"/>
                <a:gd name="csX16" fmla="*/ 1311555 w 4756935"/>
                <a:gd name="csY16" fmla="*/ 2618143 h 2618143"/>
                <a:gd name="csX17" fmla="*/ 631993 w 4756935"/>
                <a:gd name="csY17" fmla="*/ 2618143 h 2618143"/>
                <a:gd name="csX18" fmla="*/ 0 w 4756935"/>
                <a:gd name="csY18" fmla="*/ 2618143 h 2618143"/>
                <a:gd name="csX19" fmla="*/ 0 w 4756935"/>
                <a:gd name="csY19" fmla="*/ 1911244 h 2618143"/>
                <a:gd name="csX20" fmla="*/ 0 w 4756935"/>
                <a:gd name="csY20" fmla="*/ 1204346 h 2618143"/>
                <a:gd name="csX21" fmla="*/ 0 w 4756935"/>
                <a:gd name="csY21" fmla="*/ 0 h 261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756935" h="2618143" fill="none" extrusionOk="0">
                  <a:moveTo>
                    <a:pt x="0" y="0"/>
                  </a:moveTo>
                  <a:cubicBezTo>
                    <a:pt x="161737" y="15098"/>
                    <a:pt x="356750" y="-5514"/>
                    <a:pt x="679562" y="0"/>
                  </a:cubicBezTo>
                  <a:cubicBezTo>
                    <a:pt x="1002374" y="5514"/>
                    <a:pt x="1231708" y="-31103"/>
                    <a:pt x="1406694" y="0"/>
                  </a:cubicBezTo>
                  <a:cubicBezTo>
                    <a:pt x="1581680" y="31103"/>
                    <a:pt x="1761182" y="-11187"/>
                    <a:pt x="2038686" y="0"/>
                  </a:cubicBezTo>
                  <a:cubicBezTo>
                    <a:pt x="2316190" y="11187"/>
                    <a:pt x="2520506" y="-21265"/>
                    <a:pt x="2765818" y="0"/>
                  </a:cubicBezTo>
                  <a:cubicBezTo>
                    <a:pt x="3011130" y="21265"/>
                    <a:pt x="3323289" y="29965"/>
                    <a:pt x="3492949" y="0"/>
                  </a:cubicBezTo>
                  <a:cubicBezTo>
                    <a:pt x="3662609" y="-29965"/>
                    <a:pt x="3996812" y="20401"/>
                    <a:pt x="4172512" y="0"/>
                  </a:cubicBezTo>
                  <a:cubicBezTo>
                    <a:pt x="4348212" y="-20401"/>
                    <a:pt x="4610585" y="19420"/>
                    <a:pt x="4756935" y="0"/>
                  </a:cubicBezTo>
                  <a:cubicBezTo>
                    <a:pt x="4749327" y="186253"/>
                    <a:pt x="4785244" y="416006"/>
                    <a:pt x="4756935" y="628354"/>
                  </a:cubicBezTo>
                  <a:cubicBezTo>
                    <a:pt x="4728626" y="840702"/>
                    <a:pt x="4782077" y="990877"/>
                    <a:pt x="4756935" y="1256709"/>
                  </a:cubicBezTo>
                  <a:cubicBezTo>
                    <a:pt x="4731793" y="1522541"/>
                    <a:pt x="4746851" y="1620981"/>
                    <a:pt x="4756935" y="1858882"/>
                  </a:cubicBezTo>
                  <a:cubicBezTo>
                    <a:pt x="4767019" y="2096783"/>
                    <a:pt x="4757258" y="2288448"/>
                    <a:pt x="4756935" y="2618143"/>
                  </a:cubicBezTo>
                  <a:cubicBezTo>
                    <a:pt x="4525757" y="2649995"/>
                    <a:pt x="4192478" y="2625134"/>
                    <a:pt x="4029804" y="2618143"/>
                  </a:cubicBezTo>
                  <a:cubicBezTo>
                    <a:pt x="3867130" y="2611152"/>
                    <a:pt x="3517025" y="2645731"/>
                    <a:pt x="3255103" y="2618143"/>
                  </a:cubicBezTo>
                  <a:cubicBezTo>
                    <a:pt x="2993181" y="2590555"/>
                    <a:pt x="2796499" y="2593089"/>
                    <a:pt x="2623110" y="2618143"/>
                  </a:cubicBezTo>
                  <a:cubicBezTo>
                    <a:pt x="2449721" y="2643197"/>
                    <a:pt x="2179501" y="2604543"/>
                    <a:pt x="1895978" y="2618143"/>
                  </a:cubicBezTo>
                  <a:cubicBezTo>
                    <a:pt x="1612455" y="2631743"/>
                    <a:pt x="1511506" y="2615912"/>
                    <a:pt x="1311555" y="2618143"/>
                  </a:cubicBezTo>
                  <a:cubicBezTo>
                    <a:pt x="1111604" y="2620374"/>
                    <a:pt x="867606" y="2618873"/>
                    <a:pt x="631993" y="2618143"/>
                  </a:cubicBezTo>
                  <a:cubicBezTo>
                    <a:pt x="396380" y="2617413"/>
                    <a:pt x="272682" y="2595974"/>
                    <a:pt x="0" y="2618143"/>
                  </a:cubicBezTo>
                  <a:cubicBezTo>
                    <a:pt x="29118" y="2293922"/>
                    <a:pt x="30555" y="2173186"/>
                    <a:pt x="0" y="1911244"/>
                  </a:cubicBezTo>
                  <a:cubicBezTo>
                    <a:pt x="-30555" y="1649302"/>
                    <a:pt x="-16563" y="1349697"/>
                    <a:pt x="0" y="1204346"/>
                  </a:cubicBezTo>
                  <a:cubicBezTo>
                    <a:pt x="16563" y="1058995"/>
                    <a:pt x="10885" y="330714"/>
                    <a:pt x="0" y="0"/>
                  </a:cubicBezTo>
                  <a:close/>
                </a:path>
                <a:path w="4756935" h="2618143" stroke="0" extrusionOk="0">
                  <a:moveTo>
                    <a:pt x="0" y="0"/>
                  </a:moveTo>
                  <a:cubicBezTo>
                    <a:pt x="219185" y="-7441"/>
                    <a:pt x="424868" y="8143"/>
                    <a:pt x="774701" y="0"/>
                  </a:cubicBezTo>
                  <a:cubicBezTo>
                    <a:pt x="1124534" y="-8143"/>
                    <a:pt x="1107312" y="-9144"/>
                    <a:pt x="1406694" y="0"/>
                  </a:cubicBezTo>
                  <a:cubicBezTo>
                    <a:pt x="1706076" y="9144"/>
                    <a:pt x="1765549" y="21415"/>
                    <a:pt x="1943548" y="0"/>
                  </a:cubicBezTo>
                  <a:cubicBezTo>
                    <a:pt x="2121547" y="-21415"/>
                    <a:pt x="2310527" y="19703"/>
                    <a:pt x="2623110" y="0"/>
                  </a:cubicBezTo>
                  <a:cubicBezTo>
                    <a:pt x="2935693" y="-19703"/>
                    <a:pt x="3006455" y="14576"/>
                    <a:pt x="3302672" y="0"/>
                  </a:cubicBezTo>
                  <a:cubicBezTo>
                    <a:pt x="3598889" y="-14576"/>
                    <a:pt x="3771996" y="-17611"/>
                    <a:pt x="3934665" y="0"/>
                  </a:cubicBezTo>
                  <a:cubicBezTo>
                    <a:pt x="4097334" y="17611"/>
                    <a:pt x="4466366" y="39044"/>
                    <a:pt x="4756935" y="0"/>
                  </a:cubicBezTo>
                  <a:cubicBezTo>
                    <a:pt x="4782297" y="293773"/>
                    <a:pt x="4738327" y="439115"/>
                    <a:pt x="4756935" y="680717"/>
                  </a:cubicBezTo>
                  <a:cubicBezTo>
                    <a:pt x="4775543" y="922319"/>
                    <a:pt x="4769725" y="1056386"/>
                    <a:pt x="4756935" y="1256709"/>
                  </a:cubicBezTo>
                  <a:cubicBezTo>
                    <a:pt x="4744145" y="1457032"/>
                    <a:pt x="4752841" y="1737712"/>
                    <a:pt x="4756935" y="1911244"/>
                  </a:cubicBezTo>
                  <a:cubicBezTo>
                    <a:pt x="4761029" y="2084777"/>
                    <a:pt x="4761428" y="2265749"/>
                    <a:pt x="4756935" y="2618143"/>
                  </a:cubicBezTo>
                  <a:cubicBezTo>
                    <a:pt x="4478945" y="2600028"/>
                    <a:pt x="4447035" y="2611483"/>
                    <a:pt x="4172512" y="2618143"/>
                  </a:cubicBezTo>
                  <a:cubicBezTo>
                    <a:pt x="3897989" y="2624803"/>
                    <a:pt x="3762181" y="2627261"/>
                    <a:pt x="3445380" y="2618143"/>
                  </a:cubicBezTo>
                  <a:cubicBezTo>
                    <a:pt x="3128579" y="2609025"/>
                    <a:pt x="3105533" y="2623316"/>
                    <a:pt x="2813387" y="2618143"/>
                  </a:cubicBezTo>
                  <a:cubicBezTo>
                    <a:pt x="2521241" y="2612970"/>
                    <a:pt x="2322384" y="2651305"/>
                    <a:pt x="2038686" y="2618143"/>
                  </a:cubicBezTo>
                  <a:cubicBezTo>
                    <a:pt x="1754988" y="2584981"/>
                    <a:pt x="1638449" y="2641360"/>
                    <a:pt x="1501832" y="2618143"/>
                  </a:cubicBezTo>
                  <a:cubicBezTo>
                    <a:pt x="1365215" y="2594926"/>
                    <a:pt x="1022795" y="2647453"/>
                    <a:pt x="774701" y="2618143"/>
                  </a:cubicBezTo>
                  <a:cubicBezTo>
                    <a:pt x="526607" y="2588833"/>
                    <a:pt x="306210" y="2604830"/>
                    <a:pt x="0" y="2618143"/>
                  </a:cubicBezTo>
                  <a:cubicBezTo>
                    <a:pt x="-3532" y="2389095"/>
                    <a:pt x="-18953" y="2273017"/>
                    <a:pt x="0" y="2015970"/>
                  </a:cubicBezTo>
                  <a:cubicBezTo>
                    <a:pt x="18953" y="1758923"/>
                    <a:pt x="13386" y="1636212"/>
                    <a:pt x="0" y="1439979"/>
                  </a:cubicBezTo>
                  <a:cubicBezTo>
                    <a:pt x="-13386" y="1243746"/>
                    <a:pt x="-23706" y="1042315"/>
                    <a:pt x="0" y="785443"/>
                  </a:cubicBezTo>
                  <a:cubicBezTo>
                    <a:pt x="23706" y="528571"/>
                    <a:pt x="-34397" y="237253"/>
                    <a:pt x="0" y="0"/>
                  </a:cubicBezTo>
                  <a:close/>
                </a:path>
              </a:pathLst>
            </a:custGeom>
            <a:ln w="12700">
              <a:extLst>
                <a:ext uri="{C807C97D-BFC1-408E-A445-0C87EB9F89A2}">
                  <ask:lineSketchStyleProps xmlns:ask="http://schemas.microsoft.com/office/drawing/2018/sketchyshapes" sd="398957492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45720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Same people get paged repeatedly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Every alert waked someone up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No clear backup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Little documentation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Recurring incidents stay recurring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CAF24E4-D18F-3AE8-C164-3F052E37B80F}"/>
                </a:ext>
              </a:extLst>
            </p:cNvPr>
            <p:cNvSpPr txBox="1"/>
            <p:nvPr/>
          </p:nvSpPr>
          <p:spPr>
            <a:xfrm>
              <a:off x="1077434" y="1975224"/>
              <a:ext cx="4756936" cy="602512"/>
            </a:xfrm>
            <a:custGeom>
              <a:avLst/>
              <a:gdLst>
                <a:gd name="csX0" fmla="*/ 0 w 4756936"/>
                <a:gd name="csY0" fmla="*/ 0 h 602512"/>
                <a:gd name="csX1" fmla="*/ 774701 w 4756936"/>
                <a:gd name="csY1" fmla="*/ 0 h 602512"/>
                <a:gd name="csX2" fmla="*/ 1311555 w 4756936"/>
                <a:gd name="csY2" fmla="*/ 0 h 602512"/>
                <a:gd name="csX3" fmla="*/ 1895979 w 4756936"/>
                <a:gd name="csY3" fmla="*/ 0 h 602512"/>
                <a:gd name="csX4" fmla="*/ 2575541 w 4756936"/>
                <a:gd name="csY4" fmla="*/ 0 h 602512"/>
                <a:gd name="csX5" fmla="*/ 3350242 w 4756936"/>
                <a:gd name="csY5" fmla="*/ 0 h 602512"/>
                <a:gd name="csX6" fmla="*/ 3887096 w 4756936"/>
                <a:gd name="csY6" fmla="*/ 0 h 602512"/>
                <a:gd name="csX7" fmla="*/ 4756936 w 4756936"/>
                <a:gd name="csY7" fmla="*/ 0 h 602512"/>
                <a:gd name="csX8" fmla="*/ 4756936 w 4756936"/>
                <a:gd name="csY8" fmla="*/ 602512 h 602512"/>
                <a:gd name="csX9" fmla="*/ 3982235 w 4756936"/>
                <a:gd name="csY9" fmla="*/ 602512 h 602512"/>
                <a:gd name="csX10" fmla="*/ 3207534 w 4756936"/>
                <a:gd name="csY10" fmla="*/ 602512 h 602512"/>
                <a:gd name="csX11" fmla="*/ 2623110 w 4756936"/>
                <a:gd name="csY11" fmla="*/ 602512 h 602512"/>
                <a:gd name="csX12" fmla="*/ 2086256 w 4756936"/>
                <a:gd name="csY12" fmla="*/ 602512 h 602512"/>
                <a:gd name="csX13" fmla="*/ 1406694 w 4756936"/>
                <a:gd name="csY13" fmla="*/ 602512 h 602512"/>
                <a:gd name="csX14" fmla="*/ 631993 w 4756936"/>
                <a:gd name="csY14" fmla="*/ 602512 h 602512"/>
                <a:gd name="csX15" fmla="*/ 0 w 4756936"/>
                <a:gd name="csY15" fmla="*/ 602512 h 602512"/>
                <a:gd name="csX16" fmla="*/ 0 w 4756936"/>
                <a:gd name="csY16" fmla="*/ 0 h 60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756936" h="602512" fill="none" extrusionOk="0">
                  <a:moveTo>
                    <a:pt x="0" y="0"/>
                  </a:moveTo>
                  <a:cubicBezTo>
                    <a:pt x="225180" y="30251"/>
                    <a:pt x="427541" y="-7140"/>
                    <a:pt x="774701" y="0"/>
                  </a:cubicBezTo>
                  <a:cubicBezTo>
                    <a:pt x="1121861" y="7140"/>
                    <a:pt x="1160839" y="4434"/>
                    <a:pt x="1311555" y="0"/>
                  </a:cubicBezTo>
                  <a:cubicBezTo>
                    <a:pt x="1462271" y="-4434"/>
                    <a:pt x="1726630" y="18617"/>
                    <a:pt x="1895979" y="0"/>
                  </a:cubicBezTo>
                  <a:cubicBezTo>
                    <a:pt x="2065328" y="-18617"/>
                    <a:pt x="2284487" y="31534"/>
                    <a:pt x="2575541" y="0"/>
                  </a:cubicBezTo>
                  <a:cubicBezTo>
                    <a:pt x="2866595" y="-31534"/>
                    <a:pt x="2994933" y="22257"/>
                    <a:pt x="3350242" y="0"/>
                  </a:cubicBezTo>
                  <a:cubicBezTo>
                    <a:pt x="3705551" y="-22257"/>
                    <a:pt x="3703735" y="-3536"/>
                    <a:pt x="3887096" y="0"/>
                  </a:cubicBezTo>
                  <a:cubicBezTo>
                    <a:pt x="4070457" y="3536"/>
                    <a:pt x="4387391" y="-11361"/>
                    <a:pt x="4756936" y="0"/>
                  </a:cubicBezTo>
                  <a:cubicBezTo>
                    <a:pt x="4732971" y="230302"/>
                    <a:pt x="4768976" y="320654"/>
                    <a:pt x="4756936" y="602512"/>
                  </a:cubicBezTo>
                  <a:cubicBezTo>
                    <a:pt x="4451389" y="611658"/>
                    <a:pt x="4205416" y="626867"/>
                    <a:pt x="3982235" y="602512"/>
                  </a:cubicBezTo>
                  <a:cubicBezTo>
                    <a:pt x="3759054" y="578157"/>
                    <a:pt x="3522972" y="582902"/>
                    <a:pt x="3207534" y="602512"/>
                  </a:cubicBezTo>
                  <a:cubicBezTo>
                    <a:pt x="2892096" y="622122"/>
                    <a:pt x="2795159" y="617768"/>
                    <a:pt x="2623110" y="602512"/>
                  </a:cubicBezTo>
                  <a:cubicBezTo>
                    <a:pt x="2451061" y="587256"/>
                    <a:pt x="2195040" y="619475"/>
                    <a:pt x="2086256" y="602512"/>
                  </a:cubicBezTo>
                  <a:cubicBezTo>
                    <a:pt x="1977472" y="585549"/>
                    <a:pt x="1689604" y="610494"/>
                    <a:pt x="1406694" y="602512"/>
                  </a:cubicBezTo>
                  <a:cubicBezTo>
                    <a:pt x="1123784" y="594530"/>
                    <a:pt x="809031" y="636126"/>
                    <a:pt x="631993" y="602512"/>
                  </a:cubicBezTo>
                  <a:cubicBezTo>
                    <a:pt x="454955" y="568898"/>
                    <a:pt x="295842" y="587878"/>
                    <a:pt x="0" y="602512"/>
                  </a:cubicBezTo>
                  <a:cubicBezTo>
                    <a:pt x="14037" y="455447"/>
                    <a:pt x="-24057" y="216053"/>
                    <a:pt x="0" y="0"/>
                  </a:cubicBezTo>
                  <a:close/>
                </a:path>
                <a:path w="4756936" h="602512" stroke="0" extrusionOk="0">
                  <a:moveTo>
                    <a:pt x="0" y="0"/>
                  </a:moveTo>
                  <a:cubicBezTo>
                    <a:pt x="205492" y="-29934"/>
                    <a:pt x="413632" y="-12697"/>
                    <a:pt x="679562" y="0"/>
                  </a:cubicBezTo>
                  <a:cubicBezTo>
                    <a:pt x="945492" y="12697"/>
                    <a:pt x="1211869" y="-25850"/>
                    <a:pt x="1454263" y="0"/>
                  </a:cubicBezTo>
                  <a:cubicBezTo>
                    <a:pt x="1696657" y="25850"/>
                    <a:pt x="1791954" y="-8165"/>
                    <a:pt x="2086256" y="0"/>
                  </a:cubicBezTo>
                  <a:cubicBezTo>
                    <a:pt x="2380558" y="8165"/>
                    <a:pt x="2520320" y="-6375"/>
                    <a:pt x="2765819" y="0"/>
                  </a:cubicBezTo>
                  <a:cubicBezTo>
                    <a:pt x="3011318" y="6375"/>
                    <a:pt x="3246222" y="-35640"/>
                    <a:pt x="3492950" y="0"/>
                  </a:cubicBezTo>
                  <a:cubicBezTo>
                    <a:pt x="3739678" y="35640"/>
                    <a:pt x="3827741" y="-3196"/>
                    <a:pt x="4029804" y="0"/>
                  </a:cubicBezTo>
                  <a:cubicBezTo>
                    <a:pt x="4231867" y="3196"/>
                    <a:pt x="4399369" y="-6628"/>
                    <a:pt x="4756936" y="0"/>
                  </a:cubicBezTo>
                  <a:cubicBezTo>
                    <a:pt x="4735991" y="196237"/>
                    <a:pt x="4745259" y="418281"/>
                    <a:pt x="4756936" y="602512"/>
                  </a:cubicBezTo>
                  <a:cubicBezTo>
                    <a:pt x="4617661" y="634510"/>
                    <a:pt x="4304419" y="594517"/>
                    <a:pt x="4077374" y="602512"/>
                  </a:cubicBezTo>
                  <a:cubicBezTo>
                    <a:pt x="3850329" y="610507"/>
                    <a:pt x="3559475" y="630387"/>
                    <a:pt x="3397811" y="602512"/>
                  </a:cubicBezTo>
                  <a:cubicBezTo>
                    <a:pt x="3236147" y="574637"/>
                    <a:pt x="3127728" y="590306"/>
                    <a:pt x="2860957" y="602512"/>
                  </a:cubicBezTo>
                  <a:cubicBezTo>
                    <a:pt x="2594186" y="614718"/>
                    <a:pt x="2472338" y="602738"/>
                    <a:pt x="2133826" y="602512"/>
                  </a:cubicBezTo>
                  <a:cubicBezTo>
                    <a:pt x="1795314" y="602286"/>
                    <a:pt x="1663028" y="627830"/>
                    <a:pt x="1454263" y="602512"/>
                  </a:cubicBezTo>
                  <a:cubicBezTo>
                    <a:pt x="1245498" y="577194"/>
                    <a:pt x="1079946" y="590623"/>
                    <a:pt x="822270" y="602512"/>
                  </a:cubicBezTo>
                  <a:cubicBezTo>
                    <a:pt x="564594" y="614401"/>
                    <a:pt x="305860" y="631017"/>
                    <a:pt x="0" y="602512"/>
                  </a:cubicBezTo>
                  <a:cubicBezTo>
                    <a:pt x="-16658" y="388127"/>
                    <a:pt x="11312" y="252515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4199121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200" dirty="0">
                  <a:latin typeface="Oswald SemiBold" panose="00000700000000000000" pitchFamily="2" charset="0"/>
                </a:rPr>
                <a:t>UNHEALTHY ROTATION</a:t>
              </a:r>
            </a:p>
          </p:txBody>
        </p:sp>
        <p:sp>
          <p:nvSpPr>
            <p:cNvPr id="61" name="Content Placeholder 2">
              <a:extLst>
                <a:ext uri="{FF2B5EF4-FFF2-40B4-BE49-F238E27FC236}">
                  <a16:creationId xmlns:a16="http://schemas.microsoft.com/office/drawing/2014/main" id="{088BE2CB-7467-5833-54C4-D4CCE27D54FC}"/>
                </a:ext>
              </a:extLst>
            </p:cNvPr>
            <p:cNvSpPr txBox="1">
              <a:spLocks/>
            </p:cNvSpPr>
            <p:nvPr/>
          </p:nvSpPr>
          <p:spPr>
            <a:xfrm>
              <a:off x="5957777" y="2745323"/>
              <a:ext cx="4756935" cy="2618143"/>
            </a:xfrm>
            <a:custGeom>
              <a:avLst/>
              <a:gdLst>
                <a:gd name="csX0" fmla="*/ 0 w 4756935"/>
                <a:gd name="csY0" fmla="*/ 0 h 2618143"/>
                <a:gd name="csX1" fmla="*/ 679562 w 4756935"/>
                <a:gd name="csY1" fmla="*/ 0 h 2618143"/>
                <a:gd name="csX2" fmla="*/ 1406694 w 4756935"/>
                <a:gd name="csY2" fmla="*/ 0 h 2618143"/>
                <a:gd name="csX3" fmla="*/ 2038686 w 4756935"/>
                <a:gd name="csY3" fmla="*/ 0 h 2618143"/>
                <a:gd name="csX4" fmla="*/ 2765818 w 4756935"/>
                <a:gd name="csY4" fmla="*/ 0 h 2618143"/>
                <a:gd name="csX5" fmla="*/ 3492949 w 4756935"/>
                <a:gd name="csY5" fmla="*/ 0 h 2618143"/>
                <a:gd name="csX6" fmla="*/ 4172512 w 4756935"/>
                <a:gd name="csY6" fmla="*/ 0 h 2618143"/>
                <a:gd name="csX7" fmla="*/ 4756935 w 4756935"/>
                <a:gd name="csY7" fmla="*/ 0 h 2618143"/>
                <a:gd name="csX8" fmla="*/ 4756935 w 4756935"/>
                <a:gd name="csY8" fmla="*/ 628354 h 2618143"/>
                <a:gd name="csX9" fmla="*/ 4756935 w 4756935"/>
                <a:gd name="csY9" fmla="*/ 1256709 h 2618143"/>
                <a:gd name="csX10" fmla="*/ 4756935 w 4756935"/>
                <a:gd name="csY10" fmla="*/ 1858882 h 2618143"/>
                <a:gd name="csX11" fmla="*/ 4756935 w 4756935"/>
                <a:gd name="csY11" fmla="*/ 2618143 h 2618143"/>
                <a:gd name="csX12" fmla="*/ 4029804 w 4756935"/>
                <a:gd name="csY12" fmla="*/ 2618143 h 2618143"/>
                <a:gd name="csX13" fmla="*/ 3255103 w 4756935"/>
                <a:gd name="csY13" fmla="*/ 2618143 h 2618143"/>
                <a:gd name="csX14" fmla="*/ 2623110 w 4756935"/>
                <a:gd name="csY14" fmla="*/ 2618143 h 2618143"/>
                <a:gd name="csX15" fmla="*/ 1895978 w 4756935"/>
                <a:gd name="csY15" fmla="*/ 2618143 h 2618143"/>
                <a:gd name="csX16" fmla="*/ 1311555 w 4756935"/>
                <a:gd name="csY16" fmla="*/ 2618143 h 2618143"/>
                <a:gd name="csX17" fmla="*/ 631993 w 4756935"/>
                <a:gd name="csY17" fmla="*/ 2618143 h 2618143"/>
                <a:gd name="csX18" fmla="*/ 0 w 4756935"/>
                <a:gd name="csY18" fmla="*/ 2618143 h 2618143"/>
                <a:gd name="csX19" fmla="*/ 0 w 4756935"/>
                <a:gd name="csY19" fmla="*/ 1911244 h 2618143"/>
                <a:gd name="csX20" fmla="*/ 0 w 4756935"/>
                <a:gd name="csY20" fmla="*/ 1204346 h 2618143"/>
                <a:gd name="csX21" fmla="*/ 0 w 4756935"/>
                <a:gd name="csY21" fmla="*/ 0 h 26181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4756935" h="2618143" fill="none" extrusionOk="0">
                  <a:moveTo>
                    <a:pt x="0" y="0"/>
                  </a:moveTo>
                  <a:cubicBezTo>
                    <a:pt x="161737" y="15098"/>
                    <a:pt x="356750" y="-5514"/>
                    <a:pt x="679562" y="0"/>
                  </a:cubicBezTo>
                  <a:cubicBezTo>
                    <a:pt x="1002374" y="5514"/>
                    <a:pt x="1231708" y="-31103"/>
                    <a:pt x="1406694" y="0"/>
                  </a:cubicBezTo>
                  <a:cubicBezTo>
                    <a:pt x="1581680" y="31103"/>
                    <a:pt x="1761182" y="-11187"/>
                    <a:pt x="2038686" y="0"/>
                  </a:cubicBezTo>
                  <a:cubicBezTo>
                    <a:pt x="2316190" y="11187"/>
                    <a:pt x="2520506" y="-21265"/>
                    <a:pt x="2765818" y="0"/>
                  </a:cubicBezTo>
                  <a:cubicBezTo>
                    <a:pt x="3011130" y="21265"/>
                    <a:pt x="3323289" y="29965"/>
                    <a:pt x="3492949" y="0"/>
                  </a:cubicBezTo>
                  <a:cubicBezTo>
                    <a:pt x="3662609" y="-29965"/>
                    <a:pt x="3996812" y="20401"/>
                    <a:pt x="4172512" y="0"/>
                  </a:cubicBezTo>
                  <a:cubicBezTo>
                    <a:pt x="4348212" y="-20401"/>
                    <a:pt x="4610585" y="19420"/>
                    <a:pt x="4756935" y="0"/>
                  </a:cubicBezTo>
                  <a:cubicBezTo>
                    <a:pt x="4749327" y="186253"/>
                    <a:pt x="4785244" y="416006"/>
                    <a:pt x="4756935" y="628354"/>
                  </a:cubicBezTo>
                  <a:cubicBezTo>
                    <a:pt x="4728626" y="840702"/>
                    <a:pt x="4782077" y="990877"/>
                    <a:pt x="4756935" y="1256709"/>
                  </a:cubicBezTo>
                  <a:cubicBezTo>
                    <a:pt x="4731793" y="1522541"/>
                    <a:pt x="4746851" y="1620981"/>
                    <a:pt x="4756935" y="1858882"/>
                  </a:cubicBezTo>
                  <a:cubicBezTo>
                    <a:pt x="4767019" y="2096783"/>
                    <a:pt x="4757258" y="2288448"/>
                    <a:pt x="4756935" y="2618143"/>
                  </a:cubicBezTo>
                  <a:cubicBezTo>
                    <a:pt x="4525757" y="2649995"/>
                    <a:pt x="4192478" y="2625134"/>
                    <a:pt x="4029804" y="2618143"/>
                  </a:cubicBezTo>
                  <a:cubicBezTo>
                    <a:pt x="3867130" y="2611152"/>
                    <a:pt x="3517025" y="2645731"/>
                    <a:pt x="3255103" y="2618143"/>
                  </a:cubicBezTo>
                  <a:cubicBezTo>
                    <a:pt x="2993181" y="2590555"/>
                    <a:pt x="2796499" y="2593089"/>
                    <a:pt x="2623110" y="2618143"/>
                  </a:cubicBezTo>
                  <a:cubicBezTo>
                    <a:pt x="2449721" y="2643197"/>
                    <a:pt x="2179501" y="2604543"/>
                    <a:pt x="1895978" y="2618143"/>
                  </a:cubicBezTo>
                  <a:cubicBezTo>
                    <a:pt x="1612455" y="2631743"/>
                    <a:pt x="1511506" y="2615912"/>
                    <a:pt x="1311555" y="2618143"/>
                  </a:cubicBezTo>
                  <a:cubicBezTo>
                    <a:pt x="1111604" y="2620374"/>
                    <a:pt x="867606" y="2618873"/>
                    <a:pt x="631993" y="2618143"/>
                  </a:cubicBezTo>
                  <a:cubicBezTo>
                    <a:pt x="396380" y="2617413"/>
                    <a:pt x="272682" y="2595974"/>
                    <a:pt x="0" y="2618143"/>
                  </a:cubicBezTo>
                  <a:cubicBezTo>
                    <a:pt x="29118" y="2293922"/>
                    <a:pt x="30555" y="2173186"/>
                    <a:pt x="0" y="1911244"/>
                  </a:cubicBezTo>
                  <a:cubicBezTo>
                    <a:pt x="-30555" y="1649302"/>
                    <a:pt x="-16563" y="1349697"/>
                    <a:pt x="0" y="1204346"/>
                  </a:cubicBezTo>
                  <a:cubicBezTo>
                    <a:pt x="16563" y="1058995"/>
                    <a:pt x="10885" y="330714"/>
                    <a:pt x="0" y="0"/>
                  </a:cubicBezTo>
                  <a:close/>
                </a:path>
                <a:path w="4756935" h="2618143" stroke="0" extrusionOk="0">
                  <a:moveTo>
                    <a:pt x="0" y="0"/>
                  </a:moveTo>
                  <a:cubicBezTo>
                    <a:pt x="219185" y="-7441"/>
                    <a:pt x="424868" y="8143"/>
                    <a:pt x="774701" y="0"/>
                  </a:cubicBezTo>
                  <a:cubicBezTo>
                    <a:pt x="1124534" y="-8143"/>
                    <a:pt x="1107312" y="-9144"/>
                    <a:pt x="1406694" y="0"/>
                  </a:cubicBezTo>
                  <a:cubicBezTo>
                    <a:pt x="1706076" y="9144"/>
                    <a:pt x="1765549" y="21415"/>
                    <a:pt x="1943548" y="0"/>
                  </a:cubicBezTo>
                  <a:cubicBezTo>
                    <a:pt x="2121547" y="-21415"/>
                    <a:pt x="2310527" y="19703"/>
                    <a:pt x="2623110" y="0"/>
                  </a:cubicBezTo>
                  <a:cubicBezTo>
                    <a:pt x="2935693" y="-19703"/>
                    <a:pt x="3006455" y="14576"/>
                    <a:pt x="3302672" y="0"/>
                  </a:cubicBezTo>
                  <a:cubicBezTo>
                    <a:pt x="3598889" y="-14576"/>
                    <a:pt x="3771996" y="-17611"/>
                    <a:pt x="3934665" y="0"/>
                  </a:cubicBezTo>
                  <a:cubicBezTo>
                    <a:pt x="4097334" y="17611"/>
                    <a:pt x="4466366" y="39044"/>
                    <a:pt x="4756935" y="0"/>
                  </a:cubicBezTo>
                  <a:cubicBezTo>
                    <a:pt x="4782297" y="293773"/>
                    <a:pt x="4738327" y="439115"/>
                    <a:pt x="4756935" y="680717"/>
                  </a:cubicBezTo>
                  <a:cubicBezTo>
                    <a:pt x="4775543" y="922319"/>
                    <a:pt x="4769725" y="1056386"/>
                    <a:pt x="4756935" y="1256709"/>
                  </a:cubicBezTo>
                  <a:cubicBezTo>
                    <a:pt x="4744145" y="1457032"/>
                    <a:pt x="4752841" y="1737712"/>
                    <a:pt x="4756935" y="1911244"/>
                  </a:cubicBezTo>
                  <a:cubicBezTo>
                    <a:pt x="4761029" y="2084777"/>
                    <a:pt x="4761428" y="2265749"/>
                    <a:pt x="4756935" y="2618143"/>
                  </a:cubicBezTo>
                  <a:cubicBezTo>
                    <a:pt x="4478945" y="2600028"/>
                    <a:pt x="4447035" y="2611483"/>
                    <a:pt x="4172512" y="2618143"/>
                  </a:cubicBezTo>
                  <a:cubicBezTo>
                    <a:pt x="3897989" y="2624803"/>
                    <a:pt x="3762181" y="2627261"/>
                    <a:pt x="3445380" y="2618143"/>
                  </a:cubicBezTo>
                  <a:cubicBezTo>
                    <a:pt x="3128579" y="2609025"/>
                    <a:pt x="3105533" y="2623316"/>
                    <a:pt x="2813387" y="2618143"/>
                  </a:cubicBezTo>
                  <a:cubicBezTo>
                    <a:pt x="2521241" y="2612970"/>
                    <a:pt x="2322384" y="2651305"/>
                    <a:pt x="2038686" y="2618143"/>
                  </a:cubicBezTo>
                  <a:cubicBezTo>
                    <a:pt x="1754988" y="2584981"/>
                    <a:pt x="1638449" y="2641360"/>
                    <a:pt x="1501832" y="2618143"/>
                  </a:cubicBezTo>
                  <a:cubicBezTo>
                    <a:pt x="1365215" y="2594926"/>
                    <a:pt x="1022795" y="2647453"/>
                    <a:pt x="774701" y="2618143"/>
                  </a:cubicBezTo>
                  <a:cubicBezTo>
                    <a:pt x="526607" y="2588833"/>
                    <a:pt x="306210" y="2604830"/>
                    <a:pt x="0" y="2618143"/>
                  </a:cubicBezTo>
                  <a:cubicBezTo>
                    <a:pt x="-3532" y="2389095"/>
                    <a:pt x="-18953" y="2273017"/>
                    <a:pt x="0" y="2015970"/>
                  </a:cubicBezTo>
                  <a:cubicBezTo>
                    <a:pt x="18953" y="1758923"/>
                    <a:pt x="13386" y="1636212"/>
                    <a:pt x="0" y="1439979"/>
                  </a:cubicBezTo>
                  <a:cubicBezTo>
                    <a:pt x="-13386" y="1243746"/>
                    <a:pt x="-23706" y="1042315"/>
                    <a:pt x="0" y="785443"/>
                  </a:cubicBezTo>
                  <a:cubicBezTo>
                    <a:pt x="23706" y="528571"/>
                    <a:pt x="-34397" y="237253"/>
                    <a:pt x="0" y="0"/>
                  </a:cubicBezTo>
                  <a:close/>
                </a:path>
              </a:pathLst>
            </a:custGeom>
            <a:ln w="12700">
              <a:extLst>
                <a:ext uri="{C807C97D-BFC1-408E-A445-0C87EB9F89A2}">
                  <ask:lineSketchStyleProps xmlns:ask="http://schemas.microsoft.com/office/drawing/2018/sketchyshapes" sd="3989574929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vert="horz" lIns="457200" tIns="45720" rIns="91440" bIns="45720" rtlCol="0" anchor="ctr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Shifts are shared fairly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Only actionable issues page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Primary + backup are defined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Runbooks guide response</a:t>
              </a:r>
            </a:p>
            <a:p>
              <a:pPr marL="285750" indent="-285750"/>
              <a:r>
                <a:rPr lang="en-US" sz="1600" dirty="0">
                  <a:latin typeface="Univers Condensed Light" panose="020B0306020202040204" pitchFamily="34" charset="0"/>
                </a:rPr>
                <a:t>Incidents lead to improvements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D503ED-25A5-29A0-D698-18D0521200F4}"/>
                </a:ext>
              </a:extLst>
            </p:cNvPr>
            <p:cNvSpPr txBox="1"/>
            <p:nvPr/>
          </p:nvSpPr>
          <p:spPr>
            <a:xfrm>
              <a:off x="5957778" y="1975224"/>
              <a:ext cx="4756936" cy="602512"/>
            </a:xfrm>
            <a:custGeom>
              <a:avLst/>
              <a:gdLst>
                <a:gd name="csX0" fmla="*/ 0 w 4756936"/>
                <a:gd name="csY0" fmla="*/ 0 h 602512"/>
                <a:gd name="csX1" fmla="*/ 774701 w 4756936"/>
                <a:gd name="csY1" fmla="*/ 0 h 602512"/>
                <a:gd name="csX2" fmla="*/ 1311555 w 4756936"/>
                <a:gd name="csY2" fmla="*/ 0 h 602512"/>
                <a:gd name="csX3" fmla="*/ 1895979 w 4756936"/>
                <a:gd name="csY3" fmla="*/ 0 h 602512"/>
                <a:gd name="csX4" fmla="*/ 2575541 w 4756936"/>
                <a:gd name="csY4" fmla="*/ 0 h 602512"/>
                <a:gd name="csX5" fmla="*/ 3350242 w 4756936"/>
                <a:gd name="csY5" fmla="*/ 0 h 602512"/>
                <a:gd name="csX6" fmla="*/ 3887096 w 4756936"/>
                <a:gd name="csY6" fmla="*/ 0 h 602512"/>
                <a:gd name="csX7" fmla="*/ 4756936 w 4756936"/>
                <a:gd name="csY7" fmla="*/ 0 h 602512"/>
                <a:gd name="csX8" fmla="*/ 4756936 w 4756936"/>
                <a:gd name="csY8" fmla="*/ 602512 h 602512"/>
                <a:gd name="csX9" fmla="*/ 3982235 w 4756936"/>
                <a:gd name="csY9" fmla="*/ 602512 h 602512"/>
                <a:gd name="csX10" fmla="*/ 3207534 w 4756936"/>
                <a:gd name="csY10" fmla="*/ 602512 h 602512"/>
                <a:gd name="csX11" fmla="*/ 2623110 w 4756936"/>
                <a:gd name="csY11" fmla="*/ 602512 h 602512"/>
                <a:gd name="csX12" fmla="*/ 2086256 w 4756936"/>
                <a:gd name="csY12" fmla="*/ 602512 h 602512"/>
                <a:gd name="csX13" fmla="*/ 1406694 w 4756936"/>
                <a:gd name="csY13" fmla="*/ 602512 h 602512"/>
                <a:gd name="csX14" fmla="*/ 631993 w 4756936"/>
                <a:gd name="csY14" fmla="*/ 602512 h 602512"/>
                <a:gd name="csX15" fmla="*/ 0 w 4756936"/>
                <a:gd name="csY15" fmla="*/ 602512 h 602512"/>
                <a:gd name="csX16" fmla="*/ 0 w 4756936"/>
                <a:gd name="csY16" fmla="*/ 0 h 6025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</a:cxnLst>
              <a:rect l="l" t="t" r="r" b="b"/>
              <a:pathLst>
                <a:path w="4756936" h="602512" fill="none" extrusionOk="0">
                  <a:moveTo>
                    <a:pt x="0" y="0"/>
                  </a:moveTo>
                  <a:cubicBezTo>
                    <a:pt x="225180" y="30251"/>
                    <a:pt x="427541" y="-7140"/>
                    <a:pt x="774701" y="0"/>
                  </a:cubicBezTo>
                  <a:cubicBezTo>
                    <a:pt x="1121861" y="7140"/>
                    <a:pt x="1160839" y="4434"/>
                    <a:pt x="1311555" y="0"/>
                  </a:cubicBezTo>
                  <a:cubicBezTo>
                    <a:pt x="1462271" y="-4434"/>
                    <a:pt x="1726630" y="18617"/>
                    <a:pt x="1895979" y="0"/>
                  </a:cubicBezTo>
                  <a:cubicBezTo>
                    <a:pt x="2065328" y="-18617"/>
                    <a:pt x="2284487" y="31534"/>
                    <a:pt x="2575541" y="0"/>
                  </a:cubicBezTo>
                  <a:cubicBezTo>
                    <a:pt x="2866595" y="-31534"/>
                    <a:pt x="2994933" y="22257"/>
                    <a:pt x="3350242" y="0"/>
                  </a:cubicBezTo>
                  <a:cubicBezTo>
                    <a:pt x="3705551" y="-22257"/>
                    <a:pt x="3703735" y="-3536"/>
                    <a:pt x="3887096" y="0"/>
                  </a:cubicBezTo>
                  <a:cubicBezTo>
                    <a:pt x="4070457" y="3536"/>
                    <a:pt x="4387391" y="-11361"/>
                    <a:pt x="4756936" y="0"/>
                  </a:cubicBezTo>
                  <a:cubicBezTo>
                    <a:pt x="4732971" y="230302"/>
                    <a:pt x="4768976" y="320654"/>
                    <a:pt x="4756936" y="602512"/>
                  </a:cubicBezTo>
                  <a:cubicBezTo>
                    <a:pt x="4451389" y="611658"/>
                    <a:pt x="4205416" y="626867"/>
                    <a:pt x="3982235" y="602512"/>
                  </a:cubicBezTo>
                  <a:cubicBezTo>
                    <a:pt x="3759054" y="578157"/>
                    <a:pt x="3522972" y="582902"/>
                    <a:pt x="3207534" y="602512"/>
                  </a:cubicBezTo>
                  <a:cubicBezTo>
                    <a:pt x="2892096" y="622122"/>
                    <a:pt x="2795159" y="617768"/>
                    <a:pt x="2623110" y="602512"/>
                  </a:cubicBezTo>
                  <a:cubicBezTo>
                    <a:pt x="2451061" y="587256"/>
                    <a:pt x="2195040" y="619475"/>
                    <a:pt x="2086256" y="602512"/>
                  </a:cubicBezTo>
                  <a:cubicBezTo>
                    <a:pt x="1977472" y="585549"/>
                    <a:pt x="1689604" y="610494"/>
                    <a:pt x="1406694" y="602512"/>
                  </a:cubicBezTo>
                  <a:cubicBezTo>
                    <a:pt x="1123784" y="594530"/>
                    <a:pt x="809031" y="636126"/>
                    <a:pt x="631993" y="602512"/>
                  </a:cubicBezTo>
                  <a:cubicBezTo>
                    <a:pt x="454955" y="568898"/>
                    <a:pt x="295842" y="587878"/>
                    <a:pt x="0" y="602512"/>
                  </a:cubicBezTo>
                  <a:cubicBezTo>
                    <a:pt x="14037" y="455447"/>
                    <a:pt x="-24057" y="216053"/>
                    <a:pt x="0" y="0"/>
                  </a:cubicBezTo>
                  <a:close/>
                </a:path>
                <a:path w="4756936" h="602512" stroke="0" extrusionOk="0">
                  <a:moveTo>
                    <a:pt x="0" y="0"/>
                  </a:moveTo>
                  <a:cubicBezTo>
                    <a:pt x="205492" y="-29934"/>
                    <a:pt x="413632" y="-12697"/>
                    <a:pt x="679562" y="0"/>
                  </a:cubicBezTo>
                  <a:cubicBezTo>
                    <a:pt x="945492" y="12697"/>
                    <a:pt x="1211869" y="-25850"/>
                    <a:pt x="1454263" y="0"/>
                  </a:cubicBezTo>
                  <a:cubicBezTo>
                    <a:pt x="1696657" y="25850"/>
                    <a:pt x="1791954" y="-8165"/>
                    <a:pt x="2086256" y="0"/>
                  </a:cubicBezTo>
                  <a:cubicBezTo>
                    <a:pt x="2380558" y="8165"/>
                    <a:pt x="2520320" y="-6375"/>
                    <a:pt x="2765819" y="0"/>
                  </a:cubicBezTo>
                  <a:cubicBezTo>
                    <a:pt x="3011318" y="6375"/>
                    <a:pt x="3246222" y="-35640"/>
                    <a:pt x="3492950" y="0"/>
                  </a:cubicBezTo>
                  <a:cubicBezTo>
                    <a:pt x="3739678" y="35640"/>
                    <a:pt x="3827741" y="-3196"/>
                    <a:pt x="4029804" y="0"/>
                  </a:cubicBezTo>
                  <a:cubicBezTo>
                    <a:pt x="4231867" y="3196"/>
                    <a:pt x="4399369" y="-6628"/>
                    <a:pt x="4756936" y="0"/>
                  </a:cubicBezTo>
                  <a:cubicBezTo>
                    <a:pt x="4735991" y="196237"/>
                    <a:pt x="4745259" y="418281"/>
                    <a:pt x="4756936" y="602512"/>
                  </a:cubicBezTo>
                  <a:cubicBezTo>
                    <a:pt x="4617661" y="634510"/>
                    <a:pt x="4304419" y="594517"/>
                    <a:pt x="4077374" y="602512"/>
                  </a:cubicBezTo>
                  <a:cubicBezTo>
                    <a:pt x="3850329" y="610507"/>
                    <a:pt x="3559475" y="630387"/>
                    <a:pt x="3397811" y="602512"/>
                  </a:cubicBezTo>
                  <a:cubicBezTo>
                    <a:pt x="3236147" y="574637"/>
                    <a:pt x="3127728" y="590306"/>
                    <a:pt x="2860957" y="602512"/>
                  </a:cubicBezTo>
                  <a:cubicBezTo>
                    <a:pt x="2594186" y="614718"/>
                    <a:pt x="2472338" y="602738"/>
                    <a:pt x="2133826" y="602512"/>
                  </a:cubicBezTo>
                  <a:cubicBezTo>
                    <a:pt x="1795314" y="602286"/>
                    <a:pt x="1663028" y="627830"/>
                    <a:pt x="1454263" y="602512"/>
                  </a:cubicBezTo>
                  <a:cubicBezTo>
                    <a:pt x="1245498" y="577194"/>
                    <a:pt x="1079946" y="590623"/>
                    <a:pt x="822270" y="602512"/>
                  </a:cubicBezTo>
                  <a:cubicBezTo>
                    <a:pt x="564594" y="614401"/>
                    <a:pt x="305860" y="631017"/>
                    <a:pt x="0" y="602512"/>
                  </a:cubicBezTo>
                  <a:cubicBezTo>
                    <a:pt x="-16658" y="388127"/>
                    <a:pt x="11312" y="252515"/>
                    <a:pt x="0" y="0"/>
                  </a:cubicBezTo>
                  <a:close/>
                </a:path>
              </a:pathLst>
            </a:custGeom>
            <a:ln>
              <a:extLst>
                <a:ext uri="{C807C97D-BFC1-408E-A445-0C87EB9F89A2}">
                  <ask:lineSketchStyleProps xmlns:ask="http://schemas.microsoft.com/office/drawing/2018/sketchyshapes" sd="24199121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wrap="none" rtlCol="0" anchor="ctr">
              <a:noAutofit/>
            </a:bodyPr>
            <a:lstStyle/>
            <a:p>
              <a:pPr algn="ctr"/>
              <a:r>
                <a:rPr lang="en-US" sz="2200" dirty="0">
                  <a:latin typeface="Oswald SemiBold" panose="00000700000000000000" pitchFamily="2" charset="0"/>
                </a:rPr>
                <a:t>HEALTHY DEVOPS ROTATION</a:t>
              </a:r>
            </a:p>
          </p:txBody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AD47CDB-8E40-9B1C-4B7B-15F4AEF0B0C2}"/>
              </a:ext>
            </a:extLst>
          </p:cNvPr>
          <p:cNvGrpSpPr/>
          <p:nvPr/>
        </p:nvGrpSpPr>
        <p:grpSpPr>
          <a:xfrm>
            <a:off x="1969930" y="5664638"/>
            <a:ext cx="8249092" cy="523220"/>
            <a:chOff x="2006009" y="5905642"/>
            <a:chExt cx="8249092" cy="523220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1CB6A46D-108E-A643-E675-5D67A76D0CA9}"/>
                </a:ext>
              </a:extLst>
            </p:cNvPr>
            <p:cNvSpPr txBox="1"/>
            <p:nvPr/>
          </p:nvSpPr>
          <p:spPr>
            <a:xfrm>
              <a:off x="2006009" y="5982586"/>
              <a:ext cx="16033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Oswald SemiBold" panose="00000700000000000000" pitchFamily="2" charset="0"/>
                </a:rPr>
                <a:t>THE MAIN IDEA: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5AD4CBE-512D-8CE1-A6CE-548DB92C9233}"/>
                </a:ext>
              </a:extLst>
            </p:cNvPr>
            <p:cNvSpPr txBox="1"/>
            <p:nvPr/>
          </p:nvSpPr>
          <p:spPr>
            <a:xfrm>
              <a:off x="3655827" y="5905642"/>
              <a:ext cx="6599274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latin typeface="Univers Condensed Light" panose="020B0306020202040204" pitchFamily="34" charset="0"/>
                </a:rPr>
                <a:t>Pager duty should protect the service and the team at the same time. A good rotation is predictable, actionable, supported, and continuously improved.</a:t>
              </a: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2850D2F2-7292-6C49-CA80-664EA929CE18}"/>
              </a:ext>
            </a:extLst>
          </p:cNvPr>
          <p:cNvSpPr txBox="1"/>
          <p:nvPr/>
        </p:nvSpPr>
        <p:spPr>
          <a:xfrm>
            <a:off x="8885330" y="6412788"/>
            <a:ext cx="290335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Google, n.d.-a; Atlassian, n.d.-a; PagerDuty, n-d.-a</a:t>
            </a:r>
          </a:p>
        </p:txBody>
      </p:sp>
    </p:spTree>
    <p:extLst>
      <p:ext uri="{BB962C8B-B14F-4D97-AF65-F5344CB8AC3E}">
        <p14:creationId xmlns:p14="http://schemas.microsoft.com/office/powerpoint/2010/main" val="25925206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D99950-75DB-2047-E809-A2CC8956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6E56B10-9F23-D7CB-9BCF-AB50D3DFF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2D52E8-3793-A578-07BF-115484B07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9037" y="365125"/>
            <a:ext cx="11023090" cy="1325563"/>
          </a:xfrm>
        </p:spPr>
        <p:txBody>
          <a:bodyPr>
            <a:normAutofit/>
          </a:bodyPr>
          <a:lstStyle/>
          <a:p>
            <a:r>
              <a:rPr lang="en-US" sz="5400" dirty="0">
                <a:latin typeface="Oswald SemiBold" panose="00000700000000000000" pitchFamily="2" charset="0"/>
              </a:rPr>
              <a:t>REFERENCES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7F3F6A70-B198-2A07-F2E4-3536808390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59F27C-1734-DDA5-F456-133C33541EF1}"/>
              </a:ext>
            </a:extLst>
          </p:cNvPr>
          <p:cNvSpPr txBox="1"/>
          <p:nvPr/>
        </p:nvSpPr>
        <p:spPr>
          <a:xfrm>
            <a:off x="9700439" y="6419944"/>
            <a:ext cx="219964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i="1" dirty="0">
                <a:latin typeface="Univers Condensed Light" panose="020B0306020202040204" pitchFamily="34" charset="0"/>
              </a:rPr>
              <a:t>Source: PagerDuty, 2026; PagerDuty, n.d.-b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B3D9B4-44DE-47E8-FB20-526BB3BB864F}"/>
              </a:ext>
            </a:extLst>
          </p:cNvPr>
          <p:cNvSpPr txBox="1"/>
          <p:nvPr/>
        </p:nvSpPr>
        <p:spPr>
          <a:xfrm>
            <a:off x="883980" y="2029233"/>
            <a:ext cx="943182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Atlassian. (n.d.-a). Building an effective on-call schedule. </a:t>
            </a:r>
            <a:r>
              <a:rPr lang="en-US" sz="1200" dirty="0">
                <a:latin typeface="Univers Condensed Light" panose="020B0306020202040204" pitchFamily="34" charset="0"/>
                <a:hlinkClick r:id="rId2"/>
              </a:rPr>
              <a:t>https://www.atlassian.com/incident-management/on-call/on-call-schedules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Atlassian. (n.d.-b). A manager’s guide to improving on-call. </a:t>
            </a:r>
            <a:r>
              <a:rPr lang="en-US" sz="1200" dirty="0">
                <a:latin typeface="Univers Condensed Light" panose="020B0306020202040204" pitchFamily="34" charset="0"/>
                <a:hlinkClick r:id="rId3"/>
              </a:rPr>
              <a:t>https://www.atlassian.com/incident-management/on-call/improving-on-call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Google. (n.d.-a). On-call. The Site Reliability Workbook. </a:t>
            </a:r>
            <a:r>
              <a:rPr lang="en-US" sz="1200" dirty="0">
                <a:latin typeface="Univers Condensed Light" panose="020B0306020202040204" pitchFamily="34" charset="0"/>
                <a:hlinkClick r:id="rId4"/>
              </a:rPr>
              <a:t>https://sre.google/workbook/on-call/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Google. (n.d.-b). Being on-call. Site Reliability Engineering. </a:t>
            </a:r>
            <a:r>
              <a:rPr lang="en-US" sz="1200" dirty="0">
                <a:latin typeface="Univers Condensed Light" panose="020B0306020202040204" pitchFamily="34" charset="0"/>
                <a:hlinkClick r:id="rId5"/>
              </a:rPr>
              <a:t>https://sre.google/sre-book/being-on-call/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PagerDuty. (2026). Escalation policies and schedules. </a:t>
            </a:r>
            <a:r>
              <a:rPr lang="en-US" sz="1200" dirty="0">
                <a:latin typeface="Univers Condensed Light" panose="020B0306020202040204" pitchFamily="34" charset="0"/>
                <a:hlinkClick r:id="rId6"/>
              </a:rPr>
              <a:t>https://support.pagerduty.com/main/docs/escalation-policies-and-schedules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PagerDuty. (n.d.-a). On-call rotations and schedules. </a:t>
            </a:r>
            <a:r>
              <a:rPr lang="en-US" sz="1200" dirty="0">
                <a:latin typeface="Univers Condensed Light" panose="020B0306020202040204" pitchFamily="34" charset="0"/>
                <a:hlinkClick r:id="rId7"/>
              </a:rPr>
              <a:t>https://www.pagerduty.com/resources/incident-management-response/learn/call-rotations-schedules/</a:t>
            </a:r>
            <a:br>
              <a:rPr lang="en-US" sz="1200" dirty="0">
                <a:latin typeface="Univers Condensed Light" panose="020B0306020202040204" pitchFamily="34" charset="0"/>
              </a:rPr>
            </a:b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latin typeface="Univers Condensed Light" panose="020B0306020202040204" pitchFamily="34" charset="0"/>
              </a:rPr>
              <a:t>PagerDuty. (n.d.-b). Being on-call. </a:t>
            </a:r>
            <a:r>
              <a:rPr lang="en-US" sz="1200" dirty="0">
                <a:latin typeface="Univers Condensed Light" panose="020B0306020202040204" pitchFamily="34" charset="0"/>
                <a:hlinkClick r:id="rId8"/>
              </a:rPr>
              <a:t>https://response.pagerduty.com/oncall/being_oncall/</a:t>
            </a:r>
            <a:endParaRPr lang="en-US" sz="1200" dirty="0">
              <a:latin typeface="Univers Condensed Light" panose="020B030602020204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latin typeface="Univers Condensed Light" panose="020B0306020202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49539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0</TotalTime>
  <Words>909</Words>
  <Application>Microsoft Office PowerPoint</Application>
  <PresentationFormat>Widescreen</PresentationFormat>
  <Paragraphs>105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Oswald SemiBold</vt:lpstr>
      <vt:lpstr>Univers Condensed Light</vt:lpstr>
      <vt:lpstr>Office Theme</vt:lpstr>
      <vt:lpstr>PAGER ROTATION DUTIES</vt:lpstr>
      <vt:lpstr>WHAT ARE PAGER ROTATION DUTIES?</vt:lpstr>
      <vt:lpstr>WHY DOES ON-CALL FIT THE DEVOPS MODEL?</vt:lpstr>
      <vt:lpstr>BEST PRACTICE: KEEP THE ROTATION SUSTAINABLE</vt:lpstr>
      <vt:lpstr>BEST PRACTICE: PAGE ONLY WHEN ACTION IS NEEDED</vt:lpstr>
      <vt:lpstr>BEST PRACTICE: HAVE A CLEAR ESCALATION PLAN</vt:lpstr>
      <vt:lpstr>THE ROTATION HAS TO WORK FOR PEOPLE TOO</vt:lpstr>
      <vt:lpstr>FROM A BAD ROTATION TO A HEALTHY ROTATION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Amanda Brock</dc:creator>
  <cp:lastModifiedBy>Amanda Brock</cp:lastModifiedBy>
  <cp:revision>3</cp:revision>
  <dcterms:created xsi:type="dcterms:W3CDTF">2026-09-20T01:29:01Z</dcterms:created>
  <dcterms:modified xsi:type="dcterms:W3CDTF">2026-09-20T23:49:50Z</dcterms:modified>
</cp:coreProperties>
</file>